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4361760" y="365760"/>
            <a:ext cx="3474720" cy="1122120"/>
          </a:xfrm>
          <a:prstGeom prst="rect">
            <a:avLst/>
          </a:prstGeom>
          <a:ln w="0">
            <a:noFill/>
          </a:ln>
        </p:spPr>
      </p:pic>
      <p:sp>
        <p:nvSpPr>
          <p:cNvPr id="1" name=""/>
          <p:cNvSpPr txBox="1"/>
          <p:nvPr/>
        </p:nvSpPr>
        <p:spPr>
          <a:xfrm>
            <a:off x="0" y="6355080"/>
            <a:ext cx="12191760" cy="27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Rajalakshmi Engineering College,Department of Cyber Security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58800"/>
          </a:xfrm>
          <a:custGeom>
            <a:avLst/>
            <a:gdLst/>
            <a:ahLst/>
            <a:rect l="0" t="0" r="r" b="b"/>
            <a:pathLst>
              <a:path w="33867" h="1830">
                <a:moveTo>
                  <a:pt x="0" y="0"/>
                </a:moveTo>
                <a:lnTo>
                  <a:pt x="33867" y="0"/>
                </a:lnTo>
                <a:lnTo>
                  <a:pt x="33867" y="1830"/>
                </a:lnTo>
                <a:lnTo>
                  <a:pt x="0" y="1830"/>
                </a:lnTo>
                <a:lnTo>
                  <a:pt x="0" y="0"/>
                </a:lnTo>
                <a:close/>
              </a:path>
            </a:pathLst>
          </a:custGeom>
          <a:solidFill>
            <a:srgbClr val="1e3655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0" y="6446520"/>
            <a:ext cx="12191760" cy="24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5e6872"/>
                </a:solidFill>
                <a:latin typeface="Calibri"/>
                <a:ea typeface="Calibri"/>
              </a:rPr>
              <a:t>Department of Cyber Security  |  Project Review – 1  |  2026-2027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2"/>
          <a:stretch/>
        </p:blipFill>
        <p:spPr>
          <a:xfrm>
            <a:off x="4361760" y="365760"/>
            <a:ext cx="3474720" cy="1122120"/>
          </a:xfrm>
          <a:prstGeom prst="rect">
            <a:avLst/>
          </a:prstGeom>
          <a:ln w="0">
            <a:noFill/>
          </a:ln>
        </p:spPr>
      </p:pic>
      <p:sp>
        <p:nvSpPr>
          <p:cNvPr id="11" name=""/>
          <p:cNvSpPr txBox="1"/>
          <p:nvPr/>
        </p:nvSpPr>
        <p:spPr>
          <a:xfrm>
            <a:off x="0" y="6355080"/>
            <a:ext cx="12191760" cy="27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Rajalakshmi Engineering College,Department of Cyber Security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732960" y="1601640"/>
            <a:ext cx="10725840" cy="448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algn="ctr">
              <a:spcBef>
                <a:spcPts val="961"/>
              </a:spcBef>
              <a:spcAft>
                <a:spcPts val="499"/>
              </a:spcAft>
            </a:pPr>
            <a:r>
              <a:rPr b="0" lang="en-US" sz="4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Department of Cyber Security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961"/>
              </a:spcBef>
              <a:spcAft>
                <a:spcPts val="499"/>
              </a:spcAft>
            </a:pPr>
            <a:r>
              <a:rPr b="0" lang="en-US" sz="4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2026-2027- Odd Semester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961"/>
              </a:spcBef>
              <a:spcAft>
                <a:spcPts val="499"/>
              </a:spcAft>
            </a:pPr>
            <a:r>
              <a:rPr b="0" lang="en-US" sz="4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III Year /V Sem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575"/>
              </a:spcBef>
              <a:spcAft>
                <a:spcPts val="499"/>
              </a:spcAft>
            </a:pPr>
            <a:r>
              <a:rPr b="1" lang="en-US" sz="2400" spc="-1" strike="noStrike">
                <a:solidFill>
                  <a:srgbClr val="000000"/>
                </a:solidFill>
                <a:latin typeface="Calibri-Bold"/>
                <a:ea typeface="Calibri-Bold"/>
              </a:rPr>
              <a:t>CS23533-FOUNDATIONS OF ARTIFICIAL INTELLIGENCE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961"/>
              </a:spcBef>
              <a:spcAft>
                <a:spcPts val="499"/>
              </a:spcAft>
            </a:pPr>
            <a:r>
              <a:rPr b="0" lang="en-US" sz="4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Review 1– 09.09.2026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527"/>
              </a:spcBef>
              <a:spcAft>
                <a:spcPts val="499"/>
              </a:spcAft>
            </a:pPr>
            <a:r>
              <a:rPr b="1" lang="en-US" sz="2200" spc="-1" strike="noStrike">
                <a:solidFill>
                  <a:srgbClr val="000000"/>
                </a:solidFill>
                <a:latin typeface="Calibri-Bold"/>
                <a:ea typeface="Calibri-Bold"/>
              </a:rPr>
              <a:t>Multiagent WareHouse Coordinator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79"/>
              </a:spcBef>
              <a:spcAft>
                <a:spcPts val="499"/>
              </a:spcAft>
            </a:pPr>
            <a:r>
              <a:rPr b="1" lang="en-US" sz="2000" spc="-1" strike="noStrike">
                <a:solidFill>
                  <a:srgbClr val="1e3655"/>
                </a:solidFill>
                <a:latin typeface="Calibri-Bold"/>
                <a:ea typeface="Calibri-Bold"/>
              </a:rPr>
              <a:t>Naveen Prabhu S K (241901069)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79"/>
              </a:spcBef>
              <a:spcAft>
                <a:spcPts val="499"/>
              </a:spcAft>
            </a:pPr>
            <a:r>
              <a:rPr b="1" lang="en-US" sz="2000" spc="-1" strike="noStrike">
                <a:solidFill>
                  <a:srgbClr val="1e3655"/>
                </a:solidFill>
                <a:latin typeface="Calibri-Bold"/>
                <a:ea typeface="Calibri-Bold"/>
              </a:rPr>
              <a:t>Varun Adhitan S V (241901121)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Introduction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822960" y="1188720"/>
            <a:ext cx="10607040" cy="5120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Modern fulfillment centers move thousands of orders a day using fleets of mobile robots that carry whole storage pods to packing stations.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Domain: Artificial Intelligence — Search, Constraint Satisfaction, Adversarial Search and Logic applied to Warehouse Robotics.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Coordinating the fleet is hard: robots must be assigned to orders, avoid collisions, stay out of storage space unless picking a pod, and recharge before running out of energy.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This project builds SWARM-WH, an autonomous Kiva-style fulfillment coordinator that solves these problems with classical AI only, with no machine learning.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Problem Statement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822960" y="1188720"/>
            <a:ext cx="10607040" cy="5120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A warehouse must move each product from its storage pod to the right packing station using a limited fleet of battery-powered robots.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Fixed routes and first-come-first-served assignment ignore robot battery, travel cost and the plans of other robots.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Robots can collide, deadlock at intersections, wander through inventory space, or strand in an aisle with a flat battery.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An algorithmic, explainable coordinator is needed to assign tasks, plan collision-free paths and keep every robot energy-safe.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Motivation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822960" y="1188720"/>
            <a:ext cx="10607040" cy="5120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Autonomous robot fleets are safety-critical cyber-physical systems: a wrong decision means collisions, damaged inventory or stranded robots.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Classical AI gives guarantees that opaque learned policies lack: optimal paths, consistent assignments and rule-based safety.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Showing every decision (A*, CSP, Alpha-Beta, logic rules) makes the system transparent for operators and for teaching.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Demonstrates how Units 2 to 5 (Search, Games, CSP, Logic) combine to solve one genuine logistics problem.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Objectives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822960" y="1188720"/>
            <a:ext cx="10607040" cy="5120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To model the Kiva pick, deliver and return workflow as a multi-agent planning problem.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To allocate orders to robots with CSP (AC-3, backtracking, MRV, forward checking).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To plan collision-free routes with A* and Space-Time Cooperative A*.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To resolve conflicts with Minimax and Alpha-Beta pruning.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To keep robots out of inventory space unless picking, and trigger charging with a first-order-logic energy rule.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To build a live web dashboard that explains every AI decision.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Literature Survey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" name=""/>
          <p:cNvGraphicFramePr/>
          <p:nvPr/>
        </p:nvGraphicFramePr>
        <p:xfrm>
          <a:off x="457200" y="960120"/>
          <a:ext cx="11274480" cy="360"/>
        </p:xfrm>
        <a:graphic>
          <a:graphicData uri="http://schemas.openxmlformats.org/drawingml/2006/table">
            <a:tbl>
              <a:tblPr/>
              <a:tblGrid>
                <a:gridCol w="868680"/>
                <a:gridCol w="1920240"/>
                <a:gridCol w="2103120"/>
                <a:gridCol w="3429000"/>
                <a:gridCol w="2953440"/>
              </a:tblGrid>
              <a:tr h="32616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S.No.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Author &amp; Year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 / Technique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Key Findings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Limitations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32616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Russell &amp; Norvig, 2021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A*, CSP, Minimax and Alpha-Beta, logic (AI: A Modern Approach)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A* is optimal with an admissible heuristic; AC-3 and backtracking solve CSPs; Alpha-Beta keeps the Minimax value with fewer nodes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Textbook single-agent and two-player forms; multi-robot fleets need extra coordination layers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</a:tr>
              <a:tr h="32616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Hart, Nilsson &amp; Raphael, 1968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A* Search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Admissible heuristics such as Manhattan distance give least-cost paths with fewer expansions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Plans for one agent; ignores other robots moving at the same time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616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Wurman, D’Andrea &amp; Mountz, 2008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Kiva mobile-fulfillment system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Hundreds of robots can bring pods to stationary pickers using coordinated task allocation and path planning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Industrial system description; internal algorithms are not open for reproduction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</a:tr>
              <a:tr h="32616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Silver, 2005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Cooperative A* (space-time reservation table)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Agents plan in turn around reserved (x, y, t) cells and avoid collisions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Result depends on planning order; tight corridors need extra conflict handling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616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5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Knuth &amp; Moore, 1975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Alpha-Beta pruning analysis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With good move ordering, pruning cuts the nodes searched sharply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Gain depends on move ordering; used here for two-robot conflicts only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</a:tr>
              <a:tr h="32616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6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Mackworth, 1977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AC-3 arc consistency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Arc consistency prunes variable domains before search starts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Only prunes; backtracking is still needed for a full solution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Existing System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822960" y="1097280"/>
            <a:ext cx="5394960" cy="5120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solidFill>
                  <a:srgbClr val="5e6872"/>
                </a:solidFill>
                <a:latin typeface="Calibri"/>
                <a:ea typeface="Calibri"/>
              </a:rPr>
              <a:t>Conventional warehouses use fixed-route AGVs with manual or first-come-first-served order assignment.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200" spc="-1" strike="noStrike">
                <a:solidFill>
                  <a:srgbClr val="5e6872"/>
                </a:solidFill>
                <a:latin typeface="Calibri"/>
                <a:ea typeface="Calibri"/>
              </a:rPr>
              <a:t>Static path planners and flat battery rules, such as “charge below 20%”.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200" spc="-1" strike="noStrike">
                <a:solidFill>
                  <a:srgbClr val="5e6872"/>
                </a:solidFill>
                <a:latin typeface="Calibri"/>
                <a:ea typeface="Calibri"/>
              </a:rPr>
              <a:t>Advantages: Simple to deploy; predictable; widely used.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200" spc="-1" strike="noStrike">
                <a:solidFill>
                  <a:srgbClr val="5e6872"/>
                </a:solidFill>
                <a:latin typeface="Calibri"/>
                <a:ea typeface="Calibri"/>
              </a:rPr>
              <a:t>Limitations: No cooperative reservation, so robots queue or collide; charging ignores charger distance; robots may cross storage areas; decisions are not explained.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6492240" y="1143000"/>
            <a:ext cx="5212440" cy="4755240"/>
          </a:xfrm>
          <a:custGeom>
            <a:avLst/>
            <a:gdLst/>
            <a:ahLst/>
            <a:rect l="0" t="0" r="r" b="b"/>
            <a:pathLst>
              <a:path w="14479" h="13209">
                <a:moveTo>
                  <a:pt x="14175" y="0"/>
                </a:moveTo>
                <a:cubicBezTo>
                  <a:pt x="14378" y="0"/>
                  <a:pt x="14479" y="101"/>
                  <a:pt x="14479" y="304"/>
                </a:cubicBezTo>
                <a:lnTo>
                  <a:pt x="14479" y="12905"/>
                </a:lnTo>
                <a:cubicBezTo>
                  <a:pt x="14479" y="13108"/>
                  <a:pt x="14378" y="13209"/>
                  <a:pt x="14175" y="13209"/>
                </a:cubicBezTo>
                <a:lnTo>
                  <a:pt x="304" y="13209"/>
                </a:lnTo>
                <a:cubicBezTo>
                  <a:pt x="101" y="13209"/>
                  <a:pt x="0" y="13108"/>
                  <a:pt x="0" y="12905"/>
                </a:cubicBezTo>
                <a:lnTo>
                  <a:pt x="0" y="304"/>
                </a:lnTo>
                <a:cubicBezTo>
                  <a:pt x="0" y="101"/>
                  <a:pt x="101" y="0"/>
                  <a:pt x="304" y="0"/>
                </a:cubicBezTo>
                <a:lnTo>
                  <a:pt x="14175" y="0"/>
                </a:lnTo>
                <a:close/>
              </a:path>
            </a:pathLst>
          </a:custGeom>
          <a:solidFill>
            <a:srgbClr val="f2f6fa"/>
          </a:solidFill>
          <a:ln w="12600">
            <a:solidFill>
              <a:srgbClr val="3364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675120" y="1234440"/>
            <a:ext cx="484632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3364a4"/>
                </a:solidFill>
                <a:latin typeface="Calibri-Bold"/>
                <a:ea typeface="Calibri-Bold"/>
              </a:rPr>
              <a:t>Fixed-route warehouse (typical)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6858000" y="1828800"/>
            <a:ext cx="1097640" cy="640440"/>
          </a:xfrm>
          <a:custGeom>
            <a:avLst/>
            <a:gdLst/>
            <a:ahLst/>
            <a:rect l="0" t="0" r="r" b="b"/>
            <a:pathLst>
              <a:path w="3049" h="1779">
                <a:moveTo>
                  <a:pt x="2921" y="0"/>
                </a:moveTo>
                <a:cubicBezTo>
                  <a:pt x="3006" y="0"/>
                  <a:pt x="3049" y="42"/>
                  <a:pt x="3049" y="127"/>
                </a:cubicBezTo>
                <a:lnTo>
                  <a:pt x="3049" y="1651"/>
                </a:lnTo>
                <a:cubicBezTo>
                  <a:pt x="3049" y="1736"/>
                  <a:pt x="3006" y="1779"/>
                  <a:pt x="2921" y="1779"/>
                </a:cubicBezTo>
                <a:lnTo>
                  <a:pt x="127" y="1779"/>
                </a:lnTo>
                <a:cubicBezTo>
                  <a:pt x="42" y="1779"/>
                  <a:pt x="0" y="1736"/>
                  <a:pt x="0" y="1651"/>
                </a:cubicBezTo>
                <a:lnTo>
                  <a:pt x="0" y="127"/>
                </a:lnTo>
                <a:cubicBezTo>
                  <a:pt x="0" y="42"/>
                  <a:pt x="42" y="0"/>
                  <a:pt x="127" y="0"/>
                </a:cubicBezTo>
                <a:lnTo>
                  <a:pt x="2921" y="0"/>
                </a:lnTo>
                <a:close/>
              </a:path>
            </a:pathLst>
          </a:custGeom>
          <a:solidFill>
            <a:srgbClr val="f0b149"/>
          </a:solidFill>
          <a:ln w="12600">
            <a:solidFill>
              <a:srgbClr val="c98a1a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6858000" y="3246120"/>
            <a:ext cx="1097640" cy="640440"/>
          </a:xfrm>
          <a:custGeom>
            <a:avLst/>
            <a:gdLst/>
            <a:ahLst/>
            <a:rect l="0" t="0" r="r" b="b"/>
            <a:pathLst>
              <a:path w="3049" h="1779">
                <a:moveTo>
                  <a:pt x="2921" y="0"/>
                </a:moveTo>
                <a:cubicBezTo>
                  <a:pt x="3006" y="0"/>
                  <a:pt x="3049" y="42"/>
                  <a:pt x="3049" y="127"/>
                </a:cubicBezTo>
                <a:lnTo>
                  <a:pt x="3049" y="1651"/>
                </a:lnTo>
                <a:cubicBezTo>
                  <a:pt x="3049" y="1736"/>
                  <a:pt x="3006" y="1779"/>
                  <a:pt x="2921" y="1779"/>
                </a:cubicBezTo>
                <a:lnTo>
                  <a:pt x="127" y="1779"/>
                </a:lnTo>
                <a:cubicBezTo>
                  <a:pt x="42" y="1779"/>
                  <a:pt x="0" y="1736"/>
                  <a:pt x="0" y="1651"/>
                </a:cubicBezTo>
                <a:lnTo>
                  <a:pt x="0" y="127"/>
                </a:lnTo>
                <a:cubicBezTo>
                  <a:pt x="0" y="42"/>
                  <a:pt x="42" y="0"/>
                  <a:pt x="127" y="0"/>
                </a:cubicBezTo>
                <a:lnTo>
                  <a:pt x="2921" y="0"/>
                </a:lnTo>
                <a:close/>
              </a:path>
            </a:pathLst>
          </a:custGeom>
          <a:solidFill>
            <a:srgbClr val="f0b149"/>
          </a:solidFill>
          <a:ln w="12600">
            <a:solidFill>
              <a:srgbClr val="c98a1a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8503920" y="1828800"/>
            <a:ext cx="1097640" cy="640440"/>
          </a:xfrm>
          <a:custGeom>
            <a:avLst/>
            <a:gdLst/>
            <a:ahLst/>
            <a:rect l="0" t="0" r="r" b="b"/>
            <a:pathLst>
              <a:path w="3049" h="1779">
                <a:moveTo>
                  <a:pt x="2921" y="0"/>
                </a:moveTo>
                <a:cubicBezTo>
                  <a:pt x="3006" y="0"/>
                  <a:pt x="3049" y="42"/>
                  <a:pt x="3049" y="127"/>
                </a:cubicBezTo>
                <a:lnTo>
                  <a:pt x="3049" y="1651"/>
                </a:lnTo>
                <a:cubicBezTo>
                  <a:pt x="3049" y="1736"/>
                  <a:pt x="3006" y="1779"/>
                  <a:pt x="2921" y="1779"/>
                </a:cubicBezTo>
                <a:lnTo>
                  <a:pt x="127" y="1779"/>
                </a:lnTo>
                <a:cubicBezTo>
                  <a:pt x="42" y="1779"/>
                  <a:pt x="0" y="1736"/>
                  <a:pt x="0" y="1651"/>
                </a:cubicBezTo>
                <a:lnTo>
                  <a:pt x="0" y="127"/>
                </a:lnTo>
                <a:cubicBezTo>
                  <a:pt x="0" y="42"/>
                  <a:pt x="42" y="0"/>
                  <a:pt x="127" y="0"/>
                </a:cubicBezTo>
                <a:lnTo>
                  <a:pt x="2921" y="0"/>
                </a:lnTo>
                <a:close/>
              </a:path>
            </a:pathLst>
          </a:custGeom>
          <a:solidFill>
            <a:srgbClr val="f0b149"/>
          </a:solidFill>
          <a:ln w="12600">
            <a:solidFill>
              <a:srgbClr val="c98a1a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8503920" y="3246120"/>
            <a:ext cx="1097640" cy="640440"/>
          </a:xfrm>
          <a:custGeom>
            <a:avLst/>
            <a:gdLst/>
            <a:ahLst/>
            <a:rect l="0" t="0" r="r" b="b"/>
            <a:pathLst>
              <a:path w="3049" h="1779">
                <a:moveTo>
                  <a:pt x="2921" y="0"/>
                </a:moveTo>
                <a:cubicBezTo>
                  <a:pt x="3006" y="0"/>
                  <a:pt x="3049" y="42"/>
                  <a:pt x="3049" y="127"/>
                </a:cubicBezTo>
                <a:lnTo>
                  <a:pt x="3049" y="1651"/>
                </a:lnTo>
                <a:cubicBezTo>
                  <a:pt x="3049" y="1736"/>
                  <a:pt x="3006" y="1779"/>
                  <a:pt x="2921" y="1779"/>
                </a:cubicBezTo>
                <a:lnTo>
                  <a:pt x="127" y="1779"/>
                </a:lnTo>
                <a:cubicBezTo>
                  <a:pt x="42" y="1779"/>
                  <a:pt x="0" y="1736"/>
                  <a:pt x="0" y="1651"/>
                </a:cubicBezTo>
                <a:lnTo>
                  <a:pt x="0" y="127"/>
                </a:lnTo>
                <a:cubicBezTo>
                  <a:pt x="0" y="42"/>
                  <a:pt x="42" y="0"/>
                  <a:pt x="127" y="0"/>
                </a:cubicBezTo>
                <a:lnTo>
                  <a:pt x="2921" y="0"/>
                </a:lnTo>
                <a:close/>
              </a:path>
            </a:pathLst>
          </a:custGeom>
          <a:solidFill>
            <a:srgbClr val="f0b149"/>
          </a:solidFill>
          <a:ln w="12600">
            <a:solidFill>
              <a:srgbClr val="c98a1a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10149840" y="1828800"/>
            <a:ext cx="1097640" cy="640440"/>
          </a:xfrm>
          <a:custGeom>
            <a:avLst/>
            <a:gdLst/>
            <a:ahLst/>
            <a:rect l="0" t="0" r="r" b="b"/>
            <a:pathLst>
              <a:path w="3049" h="1779">
                <a:moveTo>
                  <a:pt x="2921" y="0"/>
                </a:moveTo>
                <a:cubicBezTo>
                  <a:pt x="3006" y="0"/>
                  <a:pt x="3049" y="42"/>
                  <a:pt x="3049" y="127"/>
                </a:cubicBezTo>
                <a:lnTo>
                  <a:pt x="3049" y="1651"/>
                </a:lnTo>
                <a:cubicBezTo>
                  <a:pt x="3049" y="1736"/>
                  <a:pt x="3006" y="1779"/>
                  <a:pt x="2921" y="1779"/>
                </a:cubicBezTo>
                <a:lnTo>
                  <a:pt x="127" y="1779"/>
                </a:lnTo>
                <a:cubicBezTo>
                  <a:pt x="42" y="1779"/>
                  <a:pt x="0" y="1736"/>
                  <a:pt x="0" y="1651"/>
                </a:cubicBezTo>
                <a:lnTo>
                  <a:pt x="0" y="127"/>
                </a:lnTo>
                <a:cubicBezTo>
                  <a:pt x="0" y="42"/>
                  <a:pt x="42" y="0"/>
                  <a:pt x="127" y="0"/>
                </a:cubicBezTo>
                <a:lnTo>
                  <a:pt x="2921" y="0"/>
                </a:lnTo>
                <a:close/>
              </a:path>
            </a:pathLst>
          </a:custGeom>
          <a:solidFill>
            <a:srgbClr val="f0b149"/>
          </a:solidFill>
          <a:ln w="12600">
            <a:solidFill>
              <a:srgbClr val="c98a1a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0149840" y="3246120"/>
            <a:ext cx="1097640" cy="640440"/>
          </a:xfrm>
          <a:custGeom>
            <a:avLst/>
            <a:gdLst/>
            <a:ahLst/>
            <a:rect l="0" t="0" r="r" b="b"/>
            <a:pathLst>
              <a:path w="3049" h="1779">
                <a:moveTo>
                  <a:pt x="2921" y="0"/>
                </a:moveTo>
                <a:cubicBezTo>
                  <a:pt x="3006" y="0"/>
                  <a:pt x="3049" y="42"/>
                  <a:pt x="3049" y="127"/>
                </a:cubicBezTo>
                <a:lnTo>
                  <a:pt x="3049" y="1651"/>
                </a:lnTo>
                <a:cubicBezTo>
                  <a:pt x="3049" y="1736"/>
                  <a:pt x="3006" y="1779"/>
                  <a:pt x="2921" y="1779"/>
                </a:cubicBezTo>
                <a:lnTo>
                  <a:pt x="127" y="1779"/>
                </a:lnTo>
                <a:cubicBezTo>
                  <a:pt x="42" y="1779"/>
                  <a:pt x="0" y="1736"/>
                  <a:pt x="0" y="1651"/>
                </a:cubicBezTo>
                <a:lnTo>
                  <a:pt x="0" y="127"/>
                </a:lnTo>
                <a:cubicBezTo>
                  <a:pt x="0" y="42"/>
                  <a:pt x="42" y="0"/>
                  <a:pt x="127" y="0"/>
                </a:cubicBezTo>
                <a:lnTo>
                  <a:pt x="2921" y="0"/>
                </a:lnTo>
                <a:close/>
              </a:path>
            </a:pathLst>
          </a:custGeom>
          <a:solidFill>
            <a:srgbClr val="f0b149"/>
          </a:solidFill>
          <a:ln w="12600">
            <a:solidFill>
              <a:srgbClr val="c98a1a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6720840" y="2926080"/>
            <a:ext cx="4663440" cy="0"/>
          </a:xfrm>
          <a:prstGeom prst="line">
            <a:avLst/>
          </a:prstGeom>
          <a:ln w="22320">
            <a:solidFill>
              <a:srgbClr val="3364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1160" rIns="101160" tIns="-56160" bIns="-56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8092440" y="1691640"/>
            <a:ext cx="0" cy="2834280"/>
          </a:xfrm>
          <a:prstGeom prst="line">
            <a:avLst/>
          </a:prstGeom>
          <a:ln w="22320">
            <a:solidFill>
              <a:srgbClr val="e8732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1160" rIns="101160" tIns="56160" bIns="56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7909560" y="2743200"/>
            <a:ext cx="365760" cy="365760"/>
          </a:xfrm>
          <a:custGeom>
            <a:avLst/>
            <a:gdLst/>
            <a:ahLst/>
            <a:rect l="0" t="0" r="r" b="b"/>
            <a:pathLst>
              <a:path w="1016" h="1016">
                <a:moveTo>
                  <a:pt x="868" y="148"/>
                </a:moveTo>
                <a:cubicBezTo>
                  <a:pt x="1066" y="347"/>
                  <a:pt x="1066" y="669"/>
                  <a:pt x="868" y="868"/>
                </a:cubicBezTo>
                <a:cubicBezTo>
                  <a:pt x="669" y="1066"/>
                  <a:pt x="347" y="1066"/>
                  <a:pt x="148" y="868"/>
                </a:cubicBezTo>
                <a:cubicBezTo>
                  <a:pt x="-49" y="669"/>
                  <a:pt x="-49" y="347"/>
                  <a:pt x="148" y="148"/>
                </a:cubicBezTo>
                <a:cubicBezTo>
                  <a:pt x="347" y="-49"/>
                  <a:pt x="669" y="-49"/>
                  <a:pt x="868" y="148"/>
                </a:cubicBezTo>
                <a:close/>
              </a:path>
            </a:pathLst>
          </a:custGeom>
          <a:solidFill>
            <a:srgbClr val="c0382a"/>
          </a:solidFill>
          <a:ln w="19080">
            <a:solidFill>
              <a:srgbClr val="ffffff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7909560" y="2743200"/>
            <a:ext cx="36576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Calibri-Bold"/>
                <a:ea typeface="Calibri-Bold"/>
              </a:rPr>
              <a:t>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8549640" y="3977640"/>
            <a:ext cx="301752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5e6872"/>
                </a:solidFill>
                <a:latin typeface="Calibri"/>
                <a:ea typeface="Calibri"/>
              </a:rPr>
              <a:t>Fixed routes cross with no reservation: robots wait or collide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6858000" y="4983480"/>
            <a:ext cx="914760" cy="384480"/>
          </a:xfrm>
          <a:custGeom>
            <a:avLst/>
            <a:gdLst/>
            <a:ahLst/>
            <a:rect l="0" t="0" r="r" b="b"/>
            <a:pathLst>
              <a:path w="2541" h="1068">
                <a:moveTo>
                  <a:pt x="0" y="0"/>
                </a:moveTo>
                <a:lnTo>
                  <a:pt x="2541" y="0"/>
                </a:lnTo>
                <a:lnTo>
                  <a:pt x="2541" y="1068"/>
                </a:lnTo>
                <a:lnTo>
                  <a:pt x="0" y="10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5e6872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6894720" y="5020200"/>
            <a:ext cx="183240" cy="311400"/>
          </a:xfrm>
          <a:custGeom>
            <a:avLst/>
            <a:gdLst/>
            <a:ahLst/>
            <a:rect l="0" t="0" r="r" b="b"/>
            <a:pathLst>
              <a:path w="509" h="865">
                <a:moveTo>
                  <a:pt x="0" y="0"/>
                </a:moveTo>
                <a:lnTo>
                  <a:pt x="509" y="0"/>
                </a:lnTo>
                <a:lnTo>
                  <a:pt x="509" y="865"/>
                </a:lnTo>
                <a:lnTo>
                  <a:pt x="0" y="865"/>
                </a:lnTo>
                <a:lnTo>
                  <a:pt x="0" y="0"/>
                </a:lnTo>
                <a:close/>
              </a:path>
            </a:pathLst>
          </a:custGeom>
          <a:solidFill>
            <a:srgbClr val="c0382a"/>
          </a:solidFill>
          <a:ln w="12600">
            <a:solidFill>
              <a:srgbClr val="c0382a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7772400" y="5083920"/>
            <a:ext cx="64440" cy="183240"/>
          </a:xfrm>
          <a:custGeom>
            <a:avLst/>
            <a:gdLst/>
            <a:ahLst/>
            <a:rect l="0" t="0" r="r" b="b"/>
            <a:pathLst>
              <a:path w="179" h="509">
                <a:moveTo>
                  <a:pt x="0" y="0"/>
                </a:moveTo>
                <a:lnTo>
                  <a:pt x="179" y="0"/>
                </a:lnTo>
                <a:lnTo>
                  <a:pt x="179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5e6872"/>
          </a:solidFill>
          <a:ln w="12600">
            <a:solidFill>
              <a:srgbClr val="5e6872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8046720" y="4892040"/>
            <a:ext cx="347472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5e6872"/>
                </a:solidFill>
                <a:latin typeface="Calibri"/>
                <a:ea typeface="Calibri"/>
              </a:rPr>
              <a:t>Flat 20% rule ignores how far the charger is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Proposed System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822960" y="1097280"/>
            <a:ext cx="5577840" cy="5120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solidFill>
                  <a:srgbClr val="5e6872"/>
                </a:solidFill>
                <a:latin typeface="Calibri"/>
                <a:ea typeface="Calibri"/>
              </a:rPr>
              <a:t>Model the fleet as a multi-agent system: CSP assigns orders, A* and Cooperative A* plan routes, Alpha-Beta resolves conflicts.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200" spc="-1" strike="noStrike">
                <a:solidFill>
                  <a:srgbClr val="5e6872"/>
                </a:solidFill>
                <a:latin typeface="Calibri"/>
                <a:ea typeface="Calibri"/>
              </a:rPr>
              <a:t>Robots enter inventory space only to lift or stow the pod they work on; all other travel uses open aisles.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200" spc="-1" strike="noStrike">
                <a:solidFill>
                  <a:srgbClr val="5e6872"/>
                </a:solidFill>
                <a:latin typeface="Calibri"/>
                <a:ea typeface="Calibri"/>
              </a:rPr>
              <a:t>A first-order-logic safety agent sends a robot to charge when battery falls to the energy needed to reach the nearest charger.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200" spc="-1" strike="noStrike">
                <a:solidFill>
                  <a:srgbClr val="5e6872"/>
                </a:solidFill>
                <a:latin typeface="Calibri"/>
                <a:ea typeface="Calibri"/>
              </a:rPr>
              <a:t>A live web dashboard lets users dispatch products and see every decision explained.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6" name=""/>
          <p:cNvGrpSpPr/>
          <p:nvPr/>
        </p:nvGrpSpPr>
        <p:grpSpPr>
          <a:xfrm>
            <a:off x="6675120" y="1188720"/>
            <a:ext cx="5029560" cy="4755240"/>
            <a:chOff x="6675120" y="1188720"/>
            <a:chExt cx="5029560" cy="4755240"/>
          </a:xfrm>
        </p:grpSpPr>
        <p:sp>
          <p:nvSpPr>
            <p:cNvPr id="47" name=""/>
            <p:cNvSpPr/>
            <p:nvPr/>
          </p:nvSpPr>
          <p:spPr>
            <a:xfrm>
              <a:off x="6675120" y="1188720"/>
              <a:ext cx="5029560" cy="4755240"/>
            </a:xfrm>
            <a:custGeom>
              <a:avLst/>
              <a:gdLst/>
              <a:ahLst/>
              <a:rect l="0" t="0" r="r" b="b"/>
              <a:pathLst>
                <a:path w="13971" h="13209">
                  <a:moveTo>
                    <a:pt x="13209" y="0"/>
                  </a:moveTo>
                  <a:cubicBezTo>
                    <a:pt x="13717" y="0"/>
                    <a:pt x="13971" y="254"/>
                    <a:pt x="13971" y="761"/>
                  </a:cubicBezTo>
                  <a:lnTo>
                    <a:pt x="13971" y="12448"/>
                  </a:lnTo>
                  <a:cubicBezTo>
                    <a:pt x="13971" y="12955"/>
                    <a:pt x="13717" y="13209"/>
                    <a:pt x="13209" y="13209"/>
                  </a:cubicBezTo>
                  <a:lnTo>
                    <a:pt x="761" y="13209"/>
                  </a:lnTo>
                  <a:cubicBezTo>
                    <a:pt x="254" y="13209"/>
                    <a:pt x="0" y="12955"/>
                    <a:pt x="0" y="12448"/>
                  </a:cubicBezTo>
                  <a:lnTo>
                    <a:pt x="0" y="761"/>
                  </a:lnTo>
                  <a:cubicBezTo>
                    <a:pt x="0" y="254"/>
                    <a:pt x="254" y="0"/>
                    <a:pt x="761" y="0"/>
                  </a:cubicBezTo>
                  <a:lnTo>
                    <a:pt x="13209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" name=""/>
            <p:cNvSpPr txBox="1"/>
            <p:nvPr/>
          </p:nvSpPr>
          <p:spPr>
            <a:xfrm>
              <a:off x="6761880" y="1275480"/>
              <a:ext cx="4855680" cy="4581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spcAft>
                  <a:spcPts val="201"/>
                </a:spcAft>
              </a:pPr>
              <a:r>
                <a:rPr b="1" lang="en-US" sz="22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Order</a:t>
              </a:r>
              <a:endParaRPr b="0" lang="en-US" sz="2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spcAft>
                  <a:spcPts val="201"/>
                </a:spcAft>
              </a:pPr>
              <a:r>
                <a:rPr b="0" lang="en-US" sz="20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↓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spcAft>
                  <a:spcPts val="201"/>
                </a:spcAft>
              </a:pPr>
              <a:r>
                <a:rPr b="1" lang="en-US" sz="22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CSP Assignment</a:t>
              </a:r>
              <a:endParaRPr b="0" lang="en-US" sz="2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spcAft>
                  <a:spcPts val="201"/>
                </a:spcAft>
              </a:pPr>
              <a:r>
                <a:rPr b="0" lang="en-US" sz="20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↓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spcAft>
                  <a:spcPts val="201"/>
                </a:spcAft>
              </a:pPr>
              <a:r>
                <a:rPr b="1" lang="en-US" sz="22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Cooperative A* Routing</a:t>
              </a:r>
              <a:endParaRPr b="0" lang="en-US" sz="2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spcAft>
                  <a:spcPts val="201"/>
                </a:spcAft>
              </a:pPr>
              <a:r>
                <a:rPr b="0" lang="en-US" sz="20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↓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spcAft>
                  <a:spcPts val="201"/>
                </a:spcAft>
              </a:pPr>
              <a:r>
                <a:rPr b="1" lang="en-US" sz="22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Alpha-Beta Conflict Resolution</a:t>
              </a:r>
              <a:endParaRPr b="0" lang="en-US" sz="2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spcAft>
                  <a:spcPts val="201"/>
                </a:spcAft>
              </a:pPr>
              <a:r>
                <a:rPr b="0" lang="en-US" sz="20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↓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spcAft>
                  <a:spcPts val="201"/>
                </a:spcAft>
              </a:pPr>
              <a:r>
                <a:rPr b="1" lang="en-US" sz="22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Safe Charging &amp; Pod Return</a:t>
              </a:r>
              <a:endParaRPr b="0" lang="en-US" sz="2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System Architecture / Block Diagram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" name=""/>
          <p:cNvGrpSpPr/>
          <p:nvPr/>
        </p:nvGrpSpPr>
        <p:grpSpPr>
          <a:xfrm>
            <a:off x="548640" y="1371600"/>
            <a:ext cx="1966320" cy="1280520"/>
            <a:chOff x="548640" y="1371600"/>
            <a:chExt cx="1966320" cy="1280520"/>
          </a:xfrm>
        </p:grpSpPr>
        <p:sp>
          <p:nvSpPr>
            <p:cNvPr id="51" name=""/>
            <p:cNvSpPr/>
            <p:nvPr/>
          </p:nvSpPr>
          <p:spPr>
            <a:xfrm>
              <a:off x="548640" y="1371600"/>
              <a:ext cx="1966320" cy="1280520"/>
            </a:xfrm>
            <a:custGeom>
              <a:avLst/>
              <a:gdLst/>
              <a:ahLst/>
              <a:rect l="0" t="0" r="r" b="b"/>
              <a:pathLst>
                <a:path w="5462" h="3557">
                  <a:moveTo>
                    <a:pt x="5157" y="0"/>
                  </a:moveTo>
                  <a:cubicBezTo>
                    <a:pt x="5360" y="0"/>
                    <a:pt x="5462" y="101"/>
                    <a:pt x="5462" y="304"/>
                  </a:cubicBezTo>
                  <a:lnTo>
                    <a:pt x="5462" y="3252"/>
                  </a:lnTo>
                  <a:cubicBezTo>
                    <a:pt x="5462" y="3455"/>
                    <a:pt x="5360" y="3557"/>
                    <a:pt x="5157" y="3557"/>
                  </a:cubicBezTo>
                  <a:lnTo>
                    <a:pt x="304" y="3557"/>
                  </a:lnTo>
                  <a:cubicBezTo>
                    <a:pt x="101" y="3557"/>
                    <a:pt x="0" y="3455"/>
                    <a:pt x="0" y="3252"/>
                  </a:cubicBezTo>
                  <a:lnTo>
                    <a:pt x="0" y="304"/>
                  </a:lnTo>
                  <a:cubicBezTo>
                    <a:pt x="0" y="101"/>
                    <a:pt x="101" y="0"/>
                    <a:pt x="304" y="0"/>
                  </a:cubicBezTo>
                  <a:lnTo>
                    <a:pt x="5157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" name=""/>
            <p:cNvSpPr txBox="1"/>
            <p:nvPr/>
          </p:nvSpPr>
          <p:spPr>
            <a:xfrm>
              <a:off x="587160" y="1410120"/>
              <a:ext cx="1888920" cy="12031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1" lang="en-US" sz="15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USER REQUEST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1" lang="en-US" sz="15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(SKU, station, priority)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" name=""/>
          <p:cNvGrpSpPr/>
          <p:nvPr/>
        </p:nvGrpSpPr>
        <p:grpSpPr>
          <a:xfrm>
            <a:off x="2834640" y="1371600"/>
            <a:ext cx="1966320" cy="1280520"/>
            <a:chOff x="2834640" y="1371600"/>
            <a:chExt cx="1966320" cy="1280520"/>
          </a:xfrm>
        </p:grpSpPr>
        <p:sp>
          <p:nvSpPr>
            <p:cNvPr id="54" name=""/>
            <p:cNvSpPr/>
            <p:nvPr/>
          </p:nvSpPr>
          <p:spPr>
            <a:xfrm>
              <a:off x="2834640" y="1371600"/>
              <a:ext cx="1966320" cy="1280520"/>
            </a:xfrm>
            <a:custGeom>
              <a:avLst/>
              <a:gdLst/>
              <a:ahLst/>
              <a:rect l="0" t="0" r="r" b="b"/>
              <a:pathLst>
                <a:path w="5462" h="3557">
                  <a:moveTo>
                    <a:pt x="5157" y="0"/>
                  </a:moveTo>
                  <a:cubicBezTo>
                    <a:pt x="5360" y="0"/>
                    <a:pt x="5462" y="101"/>
                    <a:pt x="5462" y="304"/>
                  </a:cubicBezTo>
                  <a:lnTo>
                    <a:pt x="5462" y="3252"/>
                  </a:lnTo>
                  <a:cubicBezTo>
                    <a:pt x="5462" y="3455"/>
                    <a:pt x="5360" y="3557"/>
                    <a:pt x="5157" y="3557"/>
                  </a:cubicBezTo>
                  <a:lnTo>
                    <a:pt x="304" y="3557"/>
                  </a:lnTo>
                  <a:cubicBezTo>
                    <a:pt x="101" y="3557"/>
                    <a:pt x="0" y="3455"/>
                    <a:pt x="0" y="3252"/>
                  </a:cubicBezTo>
                  <a:lnTo>
                    <a:pt x="0" y="304"/>
                  </a:lnTo>
                  <a:cubicBezTo>
                    <a:pt x="0" y="101"/>
                    <a:pt x="101" y="0"/>
                    <a:pt x="304" y="0"/>
                  </a:cubicBezTo>
                  <a:lnTo>
                    <a:pt x="5157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"/>
            <p:cNvSpPr txBox="1"/>
            <p:nvPr/>
          </p:nvSpPr>
          <p:spPr>
            <a:xfrm>
              <a:off x="2873160" y="1410120"/>
              <a:ext cx="1888920" cy="12031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1" lang="en-US" sz="15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CSP ALLOCATOR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1" lang="en-US" sz="15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(AC-3, MRV, FC)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" name=""/>
          <p:cNvGrpSpPr/>
          <p:nvPr/>
        </p:nvGrpSpPr>
        <p:grpSpPr>
          <a:xfrm>
            <a:off x="5120640" y="1371600"/>
            <a:ext cx="1966320" cy="1280520"/>
            <a:chOff x="5120640" y="1371600"/>
            <a:chExt cx="1966320" cy="1280520"/>
          </a:xfrm>
        </p:grpSpPr>
        <p:sp>
          <p:nvSpPr>
            <p:cNvPr id="57" name=""/>
            <p:cNvSpPr/>
            <p:nvPr/>
          </p:nvSpPr>
          <p:spPr>
            <a:xfrm>
              <a:off x="5120640" y="1371600"/>
              <a:ext cx="1966320" cy="1280520"/>
            </a:xfrm>
            <a:custGeom>
              <a:avLst/>
              <a:gdLst/>
              <a:ahLst/>
              <a:rect l="0" t="0" r="r" b="b"/>
              <a:pathLst>
                <a:path w="5462" h="3557">
                  <a:moveTo>
                    <a:pt x="5157" y="0"/>
                  </a:moveTo>
                  <a:cubicBezTo>
                    <a:pt x="5360" y="0"/>
                    <a:pt x="5462" y="101"/>
                    <a:pt x="5462" y="304"/>
                  </a:cubicBezTo>
                  <a:lnTo>
                    <a:pt x="5462" y="3252"/>
                  </a:lnTo>
                  <a:cubicBezTo>
                    <a:pt x="5462" y="3455"/>
                    <a:pt x="5360" y="3557"/>
                    <a:pt x="5157" y="3557"/>
                  </a:cubicBezTo>
                  <a:lnTo>
                    <a:pt x="304" y="3557"/>
                  </a:lnTo>
                  <a:cubicBezTo>
                    <a:pt x="101" y="3557"/>
                    <a:pt x="0" y="3455"/>
                    <a:pt x="0" y="3252"/>
                  </a:cubicBezTo>
                  <a:lnTo>
                    <a:pt x="0" y="304"/>
                  </a:lnTo>
                  <a:cubicBezTo>
                    <a:pt x="0" y="101"/>
                    <a:pt x="101" y="0"/>
                    <a:pt x="304" y="0"/>
                  </a:cubicBezTo>
                  <a:lnTo>
                    <a:pt x="5157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" name=""/>
            <p:cNvSpPr txBox="1"/>
            <p:nvPr/>
          </p:nvSpPr>
          <p:spPr>
            <a:xfrm>
              <a:off x="5159160" y="1410120"/>
              <a:ext cx="1888920" cy="12031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1" lang="en-US" sz="15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A* + COOPERATIVE A*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1" lang="en-US" sz="15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(reservation table)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" name=""/>
          <p:cNvGrpSpPr/>
          <p:nvPr/>
        </p:nvGrpSpPr>
        <p:grpSpPr>
          <a:xfrm>
            <a:off x="7406640" y="1371600"/>
            <a:ext cx="1966320" cy="1280520"/>
            <a:chOff x="7406640" y="1371600"/>
            <a:chExt cx="1966320" cy="1280520"/>
          </a:xfrm>
        </p:grpSpPr>
        <p:sp>
          <p:nvSpPr>
            <p:cNvPr id="60" name=""/>
            <p:cNvSpPr/>
            <p:nvPr/>
          </p:nvSpPr>
          <p:spPr>
            <a:xfrm>
              <a:off x="7406640" y="1371600"/>
              <a:ext cx="1966320" cy="1280520"/>
            </a:xfrm>
            <a:custGeom>
              <a:avLst/>
              <a:gdLst/>
              <a:ahLst/>
              <a:rect l="0" t="0" r="r" b="b"/>
              <a:pathLst>
                <a:path w="5462" h="3557">
                  <a:moveTo>
                    <a:pt x="5157" y="0"/>
                  </a:moveTo>
                  <a:cubicBezTo>
                    <a:pt x="5360" y="0"/>
                    <a:pt x="5462" y="101"/>
                    <a:pt x="5462" y="304"/>
                  </a:cubicBezTo>
                  <a:lnTo>
                    <a:pt x="5462" y="3252"/>
                  </a:lnTo>
                  <a:cubicBezTo>
                    <a:pt x="5462" y="3455"/>
                    <a:pt x="5360" y="3557"/>
                    <a:pt x="5157" y="3557"/>
                  </a:cubicBezTo>
                  <a:lnTo>
                    <a:pt x="304" y="3557"/>
                  </a:lnTo>
                  <a:cubicBezTo>
                    <a:pt x="101" y="3557"/>
                    <a:pt x="0" y="3455"/>
                    <a:pt x="0" y="3252"/>
                  </a:cubicBezTo>
                  <a:lnTo>
                    <a:pt x="0" y="304"/>
                  </a:lnTo>
                  <a:cubicBezTo>
                    <a:pt x="0" y="101"/>
                    <a:pt x="101" y="0"/>
                    <a:pt x="304" y="0"/>
                  </a:cubicBezTo>
                  <a:lnTo>
                    <a:pt x="5157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" name=""/>
            <p:cNvSpPr txBox="1"/>
            <p:nvPr/>
          </p:nvSpPr>
          <p:spPr>
            <a:xfrm>
              <a:off x="7445160" y="1410120"/>
              <a:ext cx="1888920" cy="12031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1" lang="en-US" sz="15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ALPHA-BETA + SAFETY AGENT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1" lang="en-US" sz="15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(conflicts, battery)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" name=""/>
          <p:cNvGrpSpPr/>
          <p:nvPr/>
        </p:nvGrpSpPr>
        <p:grpSpPr>
          <a:xfrm>
            <a:off x="9692640" y="1371600"/>
            <a:ext cx="1966320" cy="1280520"/>
            <a:chOff x="9692640" y="1371600"/>
            <a:chExt cx="1966320" cy="1280520"/>
          </a:xfrm>
        </p:grpSpPr>
        <p:sp>
          <p:nvSpPr>
            <p:cNvPr id="63" name=""/>
            <p:cNvSpPr/>
            <p:nvPr/>
          </p:nvSpPr>
          <p:spPr>
            <a:xfrm>
              <a:off x="9692640" y="1371600"/>
              <a:ext cx="1966320" cy="1280520"/>
            </a:xfrm>
            <a:custGeom>
              <a:avLst/>
              <a:gdLst/>
              <a:ahLst/>
              <a:rect l="0" t="0" r="r" b="b"/>
              <a:pathLst>
                <a:path w="5462" h="3557">
                  <a:moveTo>
                    <a:pt x="5157" y="0"/>
                  </a:moveTo>
                  <a:cubicBezTo>
                    <a:pt x="5360" y="0"/>
                    <a:pt x="5462" y="101"/>
                    <a:pt x="5462" y="304"/>
                  </a:cubicBezTo>
                  <a:lnTo>
                    <a:pt x="5462" y="3252"/>
                  </a:lnTo>
                  <a:cubicBezTo>
                    <a:pt x="5462" y="3455"/>
                    <a:pt x="5360" y="3557"/>
                    <a:pt x="5157" y="3557"/>
                  </a:cubicBezTo>
                  <a:lnTo>
                    <a:pt x="304" y="3557"/>
                  </a:lnTo>
                  <a:cubicBezTo>
                    <a:pt x="101" y="3557"/>
                    <a:pt x="0" y="3455"/>
                    <a:pt x="0" y="3252"/>
                  </a:cubicBezTo>
                  <a:lnTo>
                    <a:pt x="0" y="304"/>
                  </a:lnTo>
                  <a:cubicBezTo>
                    <a:pt x="0" y="101"/>
                    <a:pt x="101" y="0"/>
                    <a:pt x="304" y="0"/>
                  </a:cubicBezTo>
                  <a:lnTo>
                    <a:pt x="5157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" name=""/>
            <p:cNvSpPr txBox="1"/>
            <p:nvPr/>
          </p:nvSpPr>
          <p:spPr>
            <a:xfrm>
              <a:off x="9731160" y="1410120"/>
              <a:ext cx="1888920" cy="12031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1" lang="en-US" sz="15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LIVE DASHBOARD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1" lang="en-US" sz="15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(canvas, telemetry)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5" name=""/>
          <p:cNvSpPr/>
          <p:nvPr/>
        </p:nvSpPr>
        <p:spPr>
          <a:xfrm>
            <a:off x="2514600" y="2011680"/>
            <a:ext cx="320040" cy="0"/>
          </a:xfrm>
          <a:prstGeom prst="line">
            <a:avLst/>
          </a:prstGeom>
          <a:ln w="22320">
            <a:solidFill>
              <a:srgbClr val="32323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1160" rIns="101160" tIns="-56160" bIns="-56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800600" y="2011680"/>
            <a:ext cx="320040" cy="0"/>
          </a:xfrm>
          <a:prstGeom prst="line">
            <a:avLst/>
          </a:prstGeom>
          <a:ln w="22320">
            <a:solidFill>
              <a:srgbClr val="32323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1160" rIns="101160" tIns="-56160" bIns="-56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086600" y="2011680"/>
            <a:ext cx="320040" cy="0"/>
          </a:xfrm>
          <a:prstGeom prst="line">
            <a:avLst/>
          </a:prstGeom>
          <a:ln w="22320">
            <a:solidFill>
              <a:srgbClr val="32323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1160" rIns="101160" tIns="-56160" bIns="-56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9372600" y="2011680"/>
            <a:ext cx="320040" cy="0"/>
          </a:xfrm>
          <a:prstGeom prst="line">
            <a:avLst/>
          </a:prstGeom>
          <a:ln w="22320">
            <a:solidFill>
              <a:srgbClr val="32323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1160" rIns="101160" tIns="-56160" bIns="-56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48640" y="3246120"/>
            <a:ext cx="11110320" cy="1234800"/>
          </a:xfrm>
          <a:custGeom>
            <a:avLst/>
            <a:gdLst/>
            <a:ahLst/>
            <a:rect l="0" t="0" r="r" b="b"/>
            <a:pathLst>
              <a:path w="30862" h="3430">
                <a:moveTo>
                  <a:pt x="30609" y="0"/>
                </a:moveTo>
                <a:cubicBezTo>
                  <a:pt x="30778" y="0"/>
                  <a:pt x="30862" y="84"/>
                  <a:pt x="30862" y="253"/>
                </a:cubicBezTo>
                <a:lnTo>
                  <a:pt x="30862" y="3177"/>
                </a:lnTo>
                <a:cubicBezTo>
                  <a:pt x="30862" y="3346"/>
                  <a:pt x="30778" y="3430"/>
                  <a:pt x="30609" y="3430"/>
                </a:cubicBezTo>
                <a:lnTo>
                  <a:pt x="253" y="3430"/>
                </a:lnTo>
                <a:cubicBezTo>
                  <a:pt x="84" y="3430"/>
                  <a:pt x="0" y="3346"/>
                  <a:pt x="0" y="3177"/>
                </a:cubicBezTo>
                <a:lnTo>
                  <a:pt x="0" y="253"/>
                </a:lnTo>
                <a:cubicBezTo>
                  <a:pt x="0" y="84"/>
                  <a:pt x="84" y="0"/>
                  <a:pt x="253" y="0"/>
                </a:cubicBezTo>
                <a:lnTo>
                  <a:pt x="30609" y="0"/>
                </a:lnTo>
                <a:close/>
              </a:path>
            </a:pathLst>
          </a:custGeom>
          <a:solidFill>
            <a:srgbClr val="fff8e6"/>
          </a:solidFill>
          <a:ln w="19080">
            <a:solidFill>
              <a:srgbClr val="e8a33c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731520" y="3291840"/>
            <a:ext cx="1069848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b7781e"/>
                </a:solidFill>
                <a:latin typeface="Calibri-Bold"/>
                <a:ea typeface="Calibri-Bold"/>
              </a:rPr>
              <a:t>Shared models used by every stage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1" name=""/>
          <p:cNvGrpSpPr/>
          <p:nvPr/>
        </p:nvGrpSpPr>
        <p:grpSpPr>
          <a:xfrm>
            <a:off x="731520" y="3611880"/>
            <a:ext cx="2514960" cy="731880"/>
            <a:chOff x="731520" y="3611880"/>
            <a:chExt cx="2514960" cy="731880"/>
          </a:xfrm>
        </p:grpSpPr>
        <p:sp>
          <p:nvSpPr>
            <p:cNvPr id="72" name=""/>
            <p:cNvSpPr/>
            <p:nvPr/>
          </p:nvSpPr>
          <p:spPr>
            <a:xfrm>
              <a:off x="731520" y="3611880"/>
              <a:ext cx="2514960" cy="731880"/>
            </a:xfrm>
            <a:custGeom>
              <a:avLst/>
              <a:gdLst/>
              <a:ahLst/>
              <a:rect l="0" t="0" r="r" b="b"/>
              <a:pathLst>
                <a:path w="6986" h="2033">
                  <a:moveTo>
                    <a:pt x="6833" y="0"/>
                  </a:moveTo>
                  <a:cubicBezTo>
                    <a:pt x="6935" y="0"/>
                    <a:pt x="6986" y="51"/>
                    <a:pt x="6986" y="152"/>
                  </a:cubicBezTo>
                  <a:lnTo>
                    <a:pt x="6986" y="1881"/>
                  </a:lnTo>
                  <a:cubicBezTo>
                    <a:pt x="6986" y="1982"/>
                    <a:pt x="6935" y="2033"/>
                    <a:pt x="6833" y="2033"/>
                  </a:cubicBezTo>
                  <a:lnTo>
                    <a:pt x="152" y="2033"/>
                  </a:lnTo>
                  <a:cubicBezTo>
                    <a:pt x="51" y="2033"/>
                    <a:pt x="0" y="1982"/>
                    <a:pt x="0" y="1881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6833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e8a33c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" name=""/>
            <p:cNvSpPr txBox="1"/>
            <p:nvPr/>
          </p:nvSpPr>
          <p:spPr>
            <a:xfrm>
              <a:off x="753840" y="3634200"/>
              <a:ext cx="2469960" cy="686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3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Warehouse Model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3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30×20 grid, pods, stations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" name=""/>
          <p:cNvGrpSpPr/>
          <p:nvPr/>
        </p:nvGrpSpPr>
        <p:grpSpPr>
          <a:xfrm>
            <a:off x="3447360" y="3611880"/>
            <a:ext cx="2514960" cy="731880"/>
            <a:chOff x="3447360" y="3611880"/>
            <a:chExt cx="2514960" cy="731880"/>
          </a:xfrm>
        </p:grpSpPr>
        <p:sp>
          <p:nvSpPr>
            <p:cNvPr id="75" name=""/>
            <p:cNvSpPr/>
            <p:nvPr/>
          </p:nvSpPr>
          <p:spPr>
            <a:xfrm>
              <a:off x="3447360" y="3611880"/>
              <a:ext cx="2514960" cy="731880"/>
            </a:xfrm>
            <a:custGeom>
              <a:avLst/>
              <a:gdLst/>
              <a:ahLst/>
              <a:rect l="0" t="0" r="r" b="b"/>
              <a:pathLst>
                <a:path w="6986" h="2033">
                  <a:moveTo>
                    <a:pt x="6833" y="0"/>
                  </a:moveTo>
                  <a:cubicBezTo>
                    <a:pt x="6935" y="0"/>
                    <a:pt x="6986" y="51"/>
                    <a:pt x="6986" y="152"/>
                  </a:cubicBezTo>
                  <a:lnTo>
                    <a:pt x="6986" y="1881"/>
                  </a:lnTo>
                  <a:cubicBezTo>
                    <a:pt x="6986" y="1982"/>
                    <a:pt x="6935" y="2033"/>
                    <a:pt x="6833" y="2033"/>
                  </a:cubicBezTo>
                  <a:lnTo>
                    <a:pt x="152" y="2033"/>
                  </a:lnTo>
                  <a:cubicBezTo>
                    <a:pt x="51" y="2033"/>
                    <a:pt x="0" y="1982"/>
                    <a:pt x="0" y="1881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6833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e8a33c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" name=""/>
            <p:cNvSpPr txBox="1"/>
            <p:nvPr/>
          </p:nvSpPr>
          <p:spPr>
            <a:xfrm>
              <a:off x="3469680" y="3634200"/>
              <a:ext cx="2469960" cy="686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3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Reservation Table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3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(x, y, time step)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" name=""/>
          <p:cNvGrpSpPr/>
          <p:nvPr/>
        </p:nvGrpSpPr>
        <p:grpSpPr>
          <a:xfrm>
            <a:off x="6163200" y="3611880"/>
            <a:ext cx="2514960" cy="731880"/>
            <a:chOff x="6163200" y="3611880"/>
            <a:chExt cx="2514960" cy="731880"/>
          </a:xfrm>
        </p:grpSpPr>
        <p:sp>
          <p:nvSpPr>
            <p:cNvPr id="78" name=""/>
            <p:cNvSpPr/>
            <p:nvPr/>
          </p:nvSpPr>
          <p:spPr>
            <a:xfrm>
              <a:off x="6163200" y="3611880"/>
              <a:ext cx="2514960" cy="731880"/>
            </a:xfrm>
            <a:custGeom>
              <a:avLst/>
              <a:gdLst/>
              <a:ahLst/>
              <a:rect l="0" t="0" r="r" b="b"/>
              <a:pathLst>
                <a:path w="6986" h="2033">
                  <a:moveTo>
                    <a:pt x="6833" y="0"/>
                  </a:moveTo>
                  <a:cubicBezTo>
                    <a:pt x="6935" y="0"/>
                    <a:pt x="6986" y="51"/>
                    <a:pt x="6986" y="152"/>
                  </a:cubicBezTo>
                  <a:lnTo>
                    <a:pt x="6986" y="1881"/>
                  </a:lnTo>
                  <a:cubicBezTo>
                    <a:pt x="6986" y="1982"/>
                    <a:pt x="6935" y="2033"/>
                    <a:pt x="6833" y="2033"/>
                  </a:cubicBezTo>
                  <a:lnTo>
                    <a:pt x="152" y="2033"/>
                  </a:lnTo>
                  <a:cubicBezTo>
                    <a:pt x="51" y="2033"/>
                    <a:pt x="0" y="1982"/>
                    <a:pt x="0" y="1881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6833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e8a33c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" name=""/>
            <p:cNvSpPr txBox="1"/>
            <p:nvPr/>
          </p:nvSpPr>
          <p:spPr>
            <a:xfrm>
              <a:off x="6185520" y="3634200"/>
              <a:ext cx="2469960" cy="686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3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Safety Knowledge Base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3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FOL Horn rules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0" name=""/>
          <p:cNvGrpSpPr/>
          <p:nvPr/>
        </p:nvGrpSpPr>
        <p:grpSpPr>
          <a:xfrm>
            <a:off x="8878680" y="3611880"/>
            <a:ext cx="2514960" cy="731880"/>
            <a:chOff x="8878680" y="3611880"/>
            <a:chExt cx="2514960" cy="731880"/>
          </a:xfrm>
        </p:grpSpPr>
        <p:sp>
          <p:nvSpPr>
            <p:cNvPr id="81" name=""/>
            <p:cNvSpPr/>
            <p:nvPr/>
          </p:nvSpPr>
          <p:spPr>
            <a:xfrm>
              <a:off x="8878680" y="3611880"/>
              <a:ext cx="2514960" cy="731880"/>
            </a:xfrm>
            <a:custGeom>
              <a:avLst/>
              <a:gdLst/>
              <a:ahLst/>
              <a:rect l="0" t="0" r="r" b="b"/>
              <a:pathLst>
                <a:path w="6986" h="2033">
                  <a:moveTo>
                    <a:pt x="6833" y="0"/>
                  </a:moveTo>
                  <a:cubicBezTo>
                    <a:pt x="6935" y="0"/>
                    <a:pt x="6986" y="51"/>
                    <a:pt x="6986" y="152"/>
                  </a:cubicBezTo>
                  <a:lnTo>
                    <a:pt x="6986" y="1881"/>
                  </a:lnTo>
                  <a:cubicBezTo>
                    <a:pt x="6986" y="1982"/>
                    <a:pt x="6935" y="2033"/>
                    <a:pt x="6833" y="2033"/>
                  </a:cubicBezTo>
                  <a:lnTo>
                    <a:pt x="152" y="2033"/>
                  </a:lnTo>
                  <a:cubicBezTo>
                    <a:pt x="51" y="2033"/>
                    <a:pt x="0" y="1982"/>
                    <a:pt x="0" y="1881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6833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e8a33c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" name=""/>
            <p:cNvSpPr txBox="1"/>
            <p:nvPr/>
          </p:nvSpPr>
          <p:spPr>
            <a:xfrm>
              <a:off x="8901360" y="3634200"/>
              <a:ext cx="2469960" cy="6868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3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Event Log and Metrics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3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decision feed, KPIs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3" name=""/>
          <p:cNvSpPr/>
          <p:nvPr/>
        </p:nvSpPr>
        <p:spPr>
          <a:xfrm>
            <a:off x="1531800" y="2651760"/>
            <a:ext cx="0" cy="594000"/>
          </a:xfrm>
          <a:prstGeom prst="line">
            <a:avLst/>
          </a:prstGeom>
          <a:ln w="22320">
            <a:solidFill>
              <a:srgbClr val="b7781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1160" rIns="101160" tIns="56160" bIns="56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3817800" y="2651760"/>
            <a:ext cx="0" cy="594000"/>
          </a:xfrm>
          <a:prstGeom prst="line">
            <a:avLst/>
          </a:prstGeom>
          <a:ln w="22320">
            <a:solidFill>
              <a:srgbClr val="b7781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1160" rIns="101160" tIns="56160" bIns="56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103800" y="2651760"/>
            <a:ext cx="0" cy="594000"/>
          </a:xfrm>
          <a:prstGeom prst="line">
            <a:avLst/>
          </a:prstGeom>
          <a:ln w="22320">
            <a:solidFill>
              <a:srgbClr val="b7781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1160" rIns="101160" tIns="56160" bIns="56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8389800" y="2651760"/>
            <a:ext cx="0" cy="594000"/>
          </a:xfrm>
          <a:prstGeom prst="line">
            <a:avLst/>
          </a:prstGeom>
          <a:ln w="22320">
            <a:solidFill>
              <a:srgbClr val="b7781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1160" rIns="101160" tIns="56160" bIns="56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0675800" y="2651760"/>
            <a:ext cx="0" cy="594000"/>
          </a:xfrm>
          <a:prstGeom prst="line">
            <a:avLst/>
          </a:prstGeom>
          <a:ln w="22320">
            <a:solidFill>
              <a:srgbClr val="b7781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1160" rIns="101160" tIns="56160" bIns="56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777240" y="4892040"/>
            <a:ext cx="1069848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5e6872"/>
                </a:solidFill>
                <a:latin typeface="Calibri"/>
                <a:ea typeface="Calibri"/>
              </a:rPr>
              <a:t>Data flows left to right from the dispatch request to the live dashboard, while each stage reads and updates the shared models.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Methodology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0" name=""/>
          <p:cNvGrpSpPr/>
          <p:nvPr/>
        </p:nvGrpSpPr>
        <p:grpSpPr>
          <a:xfrm>
            <a:off x="640080" y="1280160"/>
            <a:ext cx="3520800" cy="1920600"/>
            <a:chOff x="640080" y="1280160"/>
            <a:chExt cx="3520800" cy="1920600"/>
          </a:xfrm>
        </p:grpSpPr>
        <p:sp>
          <p:nvSpPr>
            <p:cNvPr id="91" name=""/>
            <p:cNvSpPr/>
            <p:nvPr/>
          </p:nvSpPr>
          <p:spPr>
            <a:xfrm>
              <a:off x="640080" y="1280160"/>
              <a:ext cx="3520800" cy="1920600"/>
            </a:xfrm>
            <a:custGeom>
              <a:avLst/>
              <a:gdLst/>
              <a:ahLst/>
              <a:rect l="0" t="0" r="r" b="b"/>
              <a:pathLst>
                <a:path w="9780" h="5335">
                  <a:moveTo>
                    <a:pt x="9398" y="0"/>
                  </a:moveTo>
                  <a:cubicBezTo>
                    <a:pt x="9653" y="0"/>
                    <a:pt x="9780" y="127"/>
                    <a:pt x="9780" y="381"/>
                  </a:cubicBezTo>
                  <a:lnTo>
                    <a:pt x="9780" y="4954"/>
                  </a:lnTo>
                  <a:cubicBezTo>
                    <a:pt x="9780" y="5208"/>
                    <a:pt x="9653" y="5335"/>
                    <a:pt x="9398" y="5335"/>
                  </a:cubicBezTo>
                  <a:lnTo>
                    <a:pt x="381" y="5335"/>
                  </a:lnTo>
                  <a:cubicBezTo>
                    <a:pt x="127" y="5335"/>
                    <a:pt x="0" y="5208"/>
                    <a:pt x="0" y="4954"/>
                  </a:cubicBezTo>
                  <a:lnTo>
                    <a:pt x="0" y="381"/>
                  </a:lnTo>
                  <a:cubicBezTo>
                    <a:pt x="0" y="127"/>
                    <a:pt x="127" y="0"/>
                    <a:pt x="381" y="0"/>
                  </a:cubicBezTo>
                  <a:lnTo>
                    <a:pt x="9398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"/>
            <p:cNvSpPr txBox="1"/>
            <p:nvPr/>
          </p:nvSpPr>
          <p:spPr>
            <a:xfrm>
              <a:off x="686520" y="1326600"/>
              <a:ext cx="3427200" cy="1827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spcAft>
                  <a:spcPts val="601"/>
                </a:spcAft>
              </a:pPr>
              <a:r>
                <a:rPr b="1" lang="en-US" sz="20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1. Define Warehouse &amp; Orders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5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30×20 grid, pods, stations, chargers, robots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" name=""/>
          <p:cNvGrpSpPr/>
          <p:nvPr/>
        </p:nvGrpSpPr>
        <p:grpSpPr>
          <a:xfrm>
            <a:off x="4389120" y="1280160"/>
            <a:ext cx="3520800" cy="1920600"/>
            <a:chOff x="4389120" y="1280160"/>
            <a:chExt cx="3520800" cy="1920600"/>
          </a:xfrm>
        </p:grpSpPr>
        <p:sp>
          <p:nvSpPr>
            <p:cNvPr id="94" name=""/>
            <p:cNvSpPr/>
            <p:nvPr/>
          </p:nvSpPr>
          <p:spPr>
            <a:xfrm>
              <a:off x="4389120" y="1280160"/>
              <a:ext cx="3520800" cy="1920600"/>
            </a:xfrm>
            <a:custGeom>
              <a:avLst/>
              <a:gdLst/>
              <a:ahLst/>
              <a:rect l="0" t="0" r="r" b="b"/>
              <a:pathLst>
                <a:path w="9780" h="5335">
                  <a:moveTo>
                    <a:pt x="9398" y="0"/>
                  </a:moveTo>
                  <a:cubicBezTo>
                    <a:pt x="9653" y="0"/>
                    <a:pt x="9780" y="127"/>
                    <a:pt x="9780" y="381"/>
                  </a:cubicBezTo>
                  <a:lnTo>
                    <a:pt x="9780" y="4954"/>
                  </a:lnTo>
                  <a:cubicBezTo>
                    <a:pt x="9780" y="5208"/>
                    <a:pt x="9653" y="5335"/>
                    <a:pt x="9398" y="5335"/>
                  </a:cubicBezTo>
                  <a:lnTo>
                    <a:pt x="381" y="5335"/>
                  </a:lnTo>
                  <a:cubicBezTo>
                    <a:pt x="127" y="5335"/>
                    <a:pt x="0" y="5208"/>
                    <a:pt x="0" y="4954"/>
                  </a:cubicBezTo>
                  <a:lnTo>
                    <a:pt x="0" y="381"/>
                  </a:lnTo>
                  <a:cubicBezTo>
                    <a:pt x="0" y="127"/>
                    <a:pt x="127" y="0"/>
                    <a:pt x="381" y="0"/>
                  </a:cubicBezTo>
                  <a:lnTo>
                    <a:pt x="9398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" name=""/>
            <p:cNvSpPr txBox="1"/>
            <p:nvPr/>
          </p:nvSpPr>
          <p:spPr>
            <a:xfrm>
              <a:off x="4435560" y="1326600"/>
              <a:ext cx="3427200" cy="1827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spcAft>
                  <a:spcPts val="601"/>
                </a:spcAft>
              </a:pPr>
              <a:r>
                <a:rPr b="1" lang="en-US" sz="20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2. Allocate Orders with CSP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5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AC-3, backtracking, MRV, forward checking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6" name=""/>
          <p:cNvGrpSpPr/>
          <p:nvPr/>
        </p:nvGrpSpPr>
        <p:grpSpPr>
          <a:xfrm>
            <a:off x="8138160" y="1280160"/>
            <a:ext cx="3520800" cy="1920600"/>
            <a:chOff x="8138160" y="1280160"/>
            <a:chExt cx="3520800" cy="1920600"/>
          </a:xfrm>
        </p:grpSpPr>
        <p:sp>
          <p:nvSpPr>
            <p:cNvPr id="97" name=""/>
            <p:cNvSpPr/>
            <p:nvPr/>
          </p:nvSpPr>
          <p:spPr>
            <a:xfrm>
              <a:off x="8138160" y="1280160"/>
              <a:ext cx="3520800" cy="1920600"/>
            </a:xfrm>
            <a:custGeom>
              <a:avLst/>
              <a:gdLst/>
              <a:ahLst/>
              <a:rect l="0" t="0" r="r" b="b"/>
              <a:pathLst>
                <a:path w="9780" h="5335">
                  <a:moveTo>
                    <a:pt x="9398" y="0"/>
                  </a:moveTo>
                  <a:cubicBezTo>
                    <a:pt x="9653" y="0"/>
                    <a:pt x="9780" y="127"/>
                    <a:pt x="9780" y="381"/>
                  </a:cubicBezTo>
                  <a:lnTo>
                    <a:pt x="9780" y="4954"/>
                  </a:lnTo>
                  <a:cubicBezTo>
                    <a:pt x="9780" y="5208"/>
                    <a:pt x="9653" y="5335"/>
                    <a:pt x="9398" y="5335"/>
                  </a:cubicBezTo>
                  <a:lnTo>
                    <a:pt x="381" y="5335"/>
                  </a:lnTo>
                  <a:cubicBezTo>
                    <a:pt x="127" y="5335"/>
                    <a:pt x="0" y="5208"/>
                    <a:pt x="0" y="4954"/>
                  </a:cubicBezTo>
                  <a:lnTo>
                    <a:pt x="0" y="381"/>
                  </a:lnTo>
                  <a:cubicBezTo>
                    <a:pt x="0" y="127"/>
                    <a:pt x="127" y="0"/>
                    <a:pt x="381" y="0"/>
                  </a:cubicBezTo>
                  <a:lnTo>
                    <a:pt x="9398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"/>
            <p:cNvSpPr txBox="1"/>
            <p:nvPr/>
          </p:nvSpPr>
          <p:spPr>
            <a:xfrm>
              <a:off x="8184600" y="1326600"/>
              <a:ext cx="3427200" cy="1827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spcAft>
                  <a:spcPts val="601"/>
                </a:spcAft>
              </a:pPr>
              <a:r>
                <a:rPr b="1" lang="en-US" sz="20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3. Plan Routes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5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A* and Space-Time Cooperative A* with reservations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9" name=""/>
          <p:cNvGrpSpPr/>
          <p:nvPr/>
        </p:nvGrpSpPr>
        <p:grpSpPr>
          <a:xfrm>
            <a:off x="640080" y="3566160"/>
            <a:ext cx="3520800" cy="1920600"/>
            <a:chOff x="640080" y="3566160"/>
            <a:chExt cx="3520800" cy="1920600"/>
          </a:xfrm>
        </p:grpSpPr>
        <p:sp>
          <p:nvSpPr>
            <p:cNvPr id="100" name=""/>
            <p:cNvSpPr/>
            <p:nvPr/>
          </p:nvSpPr>
          <p:spPr>
            <a:xfrm>
              <a:off x="640080" y="3566160"/>
              <a:ext cx="3520800" cy="1920600"/>
            </a:xfrm>
            <a:custGeom>
              <a:avLst/>
              <a:gdLst/>
              <a:ahLst/>
              <a:rect l="0" t="0" r="r" b="b"/>
              <a:pathLst>
                <a:path w="9780" h="5335">
                  <a:moveTo>
                    <a:pt x="9398" y="0"/>
                  </a:moveTo>
                  <a:cubicBezTo>
                    <a:pt x="9653" y="0"/>
                    <a:pt x="9780" y="127"/>
                    <a:pt x="9780" y="381"/>
                  </a:cubicBezTo>
                  <a:lnTo>
                    <a:pt x="9780" y="4954"/>
                  </a:lnTo>
                  <a:cubicBezTo>
                    <a:pt x="9780" y="5208"/>
                    <a:pt x="9653" y="5335"/>
                    <a:pt x="9398" y="5335"/>
                  </a:cubicBezTo>
                  <a:lnTo>
                    <a:pt x="381" y="5335"/>
                  </a:lnTo>
                  <a:cubicBezTo>
                    <a:pt x="127" y="5335"/>
                    <a:pt x="0" y="5208"/>
                    <a:pt x="0" y="4954"/>
                  </a:cubicBezTo>
                  <a:lnTo>
                    <a:pt x="0" y="381"/>
                  </a:lnTo>
                  <a:cubicBezTo>
                    <a:pt x="0" y="127"/>
                    <a:pt x="127" y="0"/>
                    <a:pt x="381" y="0"/>
                  </a:cubicBezTo>
                  <a:lnTo>
                    <a:pt x="9398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"/>
            <p:cNvSpPr txBox="1"/>
            <p:nvPr/>
          </p:nvSpPr>
          <p:spPr>
            <a:xfrm>
              <a:off x="686520" y="3612600"/>
              <a:ext cx="3427200" cy="1827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spcAft>
                  <a:spcPts val="601"/>
                </a:spcAft>
              </a:pPr>
              <a:r>
                <a:rPr b="1" lang="en-US" sz="20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4. Resolve Conflicts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5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Minimax with Alpha-Beta over MOVE / WAIT / YIELD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2" name=""/>
          <p:cNvGrpSpPr/>
          <p:nvPr/>
        </p:nvGrpSpPr>
        <p:grpSpPr>
          <a:xfrm>
            <a:off x="4389120" y="3566160"/>
            <a:ext cx="3520800" cy="1920600"/>
            <a:chOff x="4389120" y="3566160"/>
            <a:chExt cx="3520800" cy="1920600"/>
          </a:xfrm>
        </p:grpSpPr>
        <p:sp>
          <p:nvSpPr>
            <p:cNvPr id="103" name=""/>
            <p:cNvSpPr/>
            <p:nvPr/>
          </p:nvSpPr>
          <p:spPr>
            <a:xfrm>
              <a:off x="4389120" y="3566160"/>
              <a:ext cx="3520800" cy="1920600"/>
            </a:xfrm>
            <a:custGeom>
              <a:avLst/>
              <a:gdLst/>
              <a:ahLst/>
              <a:rect l="0" t="0" r="r" b="b"/>
              <a:pathLst>
                <a:path w="9780" h="5335">
                  <a:moveTo>
                    <a:pt x="9398" y="0"/>
                  </a:moveTo>
                  <a:cubicBezTo>
                    <a:pt x="9653" y="0"/>
                    <a:pt x="9780" y="127"/>
                    <a:pt x="9780" y="381"/>
                  </a:cubicBezTo>
                  <a:lnTo>
                    <a:pt x="9780" y="4954"/>
                  </a:lnTo>
                  <a:cubicBezTo>
                    <a:pt x="9780" y="5208"/>
                    <a:pt x="9653" y="5335"/>
                    <a:pt x="9398" y="5335"/>
                  </a:cubicBezTo>
                  <a:lnTo>
                    <a:pt x="381" y="5335"/>
                  </a:lnTo>
                  <a:cubicBezTo>
                    <a:pt x="127" y="5335"/>
                    <a:pt x="0" y="5208"/>
                    <a:pt x="0" y="4954"/>
                  </a:cubicBezTo>
                  <a:lnTo>
                    <a:pt x="0" y="381"/>
                  </a:lnTo>
                  <a:cubicBezTo>
                    <a:pt x="0" y="127"/>
                    <a:pt x="127" y="0"/>
                    <a:pt x="381" y="0"/>
                  </a:cubicBezTo>
                  <a:lnTo>
                    <a:pt x="9398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"/>
            <p:cNvSpPr txBox="1"/>
            <p:nvPr/>
          </p:nvSpPr>
          <p:spPr>
            <a:xfrm>
              <a:off x="4435560" y="3612600"/>
              <a:ext cx="3427200" cy="1827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spcAft>
                  <a:spcPts val="601"/>
                </a:spcAft>
              </a:pPr>
              <a:r>
                <a:rPr b="1" lang="en-US" sz="20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5. Check Energy with FOL Rule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5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battery ≤ E_required → pre-empt and charge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5" name=""/>
          <p:cNvGrpSpPr/>
          <p:nvPr/>
        </p:nvGrpSpPr>
        <p:grpSpPr>
          <a:xfrm>
            <a:off x="8138160" y="3566160"/>
            <a:ext cx="3520800" cy="1920600"/>
            <a:chOff x="8138160" y="3566160"/>
            <a:chExt cx="3520800" cy="1920600"/>
          </a:xfrm>
        </p:grpSpPr>
        <p:sp>
          <p:nvSpPr>
            <p:cNvPr id="106" name=""/>
            <p:cNvSpPr/>
            <p:nvPr/>
          </p:nvSpPr>
          <p:spPr>
            <a:xfrm>
              <a:off x="8138160" y="3566160"/>
              <a:ext cx="3520800" cy="1920600"/>
            </a:xfrm>
            <a:custGeom>
              <a:avLst/>
              <a:gdLst/>
              <a:ahLst/>
              <a:rect l="0" t="0" r="r" b="b"/>
              <a:pathLst>
                <a:path w="9780" h="5335">
                  <a:moveTo>
                    <a:pt x="9398" y="0"/>
                  </a:moveTo>
                  <a:cubicBezTo>
                    <a:pt x="9653" y="0"/>
                    <a:pt x="9780" y="127"/>
                    <a:pt x="9780" y="381"/>
                  </a:cubicBezTo>
                  <a:lnTo>
                    <a:pt x="9780" y="4954"/>
                  </a:lnTo>
                  <a:cubicBezTo>
                    <a:pt x="9780" y="5208"/>
                    <a:pt x="9653" y="5335"/>
                    <a:pt x="9398" y="5335"/>
                  </a:cubicBezTo>
                  <a:lnTo>
                    <a:pt x="381" y="5335"/>
                  </a:lnTo>
                  <a:cubicBezTo>
                    <a:pt x="127" y="5335"/>
                    <a:pt x="0" y="5208"/>
                    <a:pt x="0" y="4954"/>
                  </a:cubicBezTo>
                  <a:lnTo>
                    <a:pt x="0" y="381"/>
                  </a:lnTo>
                  <a:cubicBezTo>
                    <a:pt x="0" y="127"/>
                    <a:pt x="127" y="0"/>
                    <a:pt x="381" y="0"/>
                  </a:cubicBezTo>
                  <a:lnTo>
                    <a:pt x="9398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" name=""/>
            <p:cNvSpPr txBox="1"/>
            <p:nvPr/>
          </p:nvSpPr>
          <p:spPr>
            <a:xfrm>
              <a:off x="8184600" y="3612600"/>
              <a:ext cx="3427200" cy="1827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spcAft>
                  <a:spcPts val="601"/>
                </a:spcAft>
              </a:pPr>
              <a:r>
                <a:rPr b="1" lang="en-US" sz="20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6. Return Pod &amp; Report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5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Simulated Annealing picks the slot; dashboard explains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Technologies Used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22960" y="1188720"/>
            <a:ext cx="10607040" cy="5120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Programming Language: Python 3 (backend), JavaScript (frontend)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Framework / Library: FastAPI, Uvicorn, WebSockets, Pydantic, NumPy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AI Algorithms: Written from scratch; no machine learning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Frontend: HTML5 Canvas, Tailwind CSS, Lucide Icons, Chart.js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Database: Not required (in-memory simulation state)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Testing: Pytest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Tools / IDE: Visual Studio Code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Hardware: Any standard PC/laptop (no GPU required)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Module Description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1" name=""/>
          <p:cNvGrpSpPr/>
          <p:nvPr/>
        </p:nvGrpSpPr>
        <p:grpSpPr>
          <a:xfrm>
            <a:off x="640080" y="1005840"/>
            <a:ext cx="5349600" cy="1097640"/>
            <a:chOff x="640080" y="1005840"/>
            <a:chExt cx="5349600" cy="1097640"/>
          </a:xfrm>
        </p:grpSpPr>
        <p:sp>
          <p:nvSpPr>
            <p:cNvPr id="112" name=""/>
            <p:cNvSpPr/>
            <p:nvPr/>
          </p:nvSpPr>
          <p:spPr>
            <a:xfrm>
              <a:off x="640080" y="1005840"/>
              <a:ext cx="5349600" cy="1097640"/>
            </a:xfrm>
            <a:custGeom>
              <a:avLst/>
              <a:gdLst/>
              <a:ahLst/>
              <a:rect l="0" t="0" r="r" b="b"/>
              <a:pathLst>
                <a:path w="14860" h="3049">
                  <a:moveTo>
                    <a:pt x="14555" y="0"/>
                  </a:moveTo>
                  <a:cubicBezTo>
                    <a:pt x="14758" y="0"/>
                    <a:pt x="14860" y="101"/>
                    <a:pt x="14860" y="304"/>
                  </a:cubicBezTo>
                  <a:lnTo>
                    <a:pt x="14860" y="2744"/>
                  </a:lnTo>
                  <a:cubicBezTo>
                    <a:pt x="14860" y="2947"/>
                    <a:pt x="14758" y="3049"/>
                    <a:pt x="14555" y="3049"/>
                  </a:cubicBezTo>
                  <a:lnTo>
                    <a:pt x="304" y="3049"/>
                  </a:lnTo>
                  <a:cubicBezTo>
                    <a:pt x="101" y="3049"/>
                    <a:pt x="0" y="2947"/>
                    <a:pt x="0" y="2744"/>
                  </a:cubicBezTo>
                  <a:lnTo>
                    <a:pt x="0" y="304"/>
                  </a:lnTo>
                  <a:cubicBezTo>
                    <a:pt x="0" y="101"/>
                    <a:pt x="101" y="0"/>
                    <a:pt x="304" y="0"/>
                  </a:cubicBezTo>
                  <a:lnTo>
                    <a:pt x="14555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" name=""/>
            <p:cNvSpPr txBox="1"/>
            <p:nvPr/>
          </p:nvSpPr>
          <p:spPr>
            <a:xfrm>
              <a:off x="678600" y="1044360"/>
              <a:ext cx="5272200" cy="10202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spcAft>
                  <a:spcPts val="300"/>
                </a:spcAft>
              </a:pPr>
              <a:r>
                <a:rPr b="1" lang="en-US" sz="18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Module 1 – Warehouse Model &amp; Environment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4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30×20 grid, pods, stations, chargers, obstacles (PEAS)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4" name=""/>
          <p:cNvGrpSpPr/>
          <p:nvPr/>
        </p:nvGrpSpPr>
        <p:grpSpPr>
          <a:xfrm>
            <a:off x="6217920" y="1005840"/>
            <a:ext cx="5349600" cy="1097640"/>
            <a:chOff x="6217920" y="1005840"/>
            <a:chExt cx="5349600" cy="1097640"/>
          </a:xfrm>
        </p:grpSpPr>
        <p:sp>
          <p:nvSpPr>
            <p:cNvPr id="115" name=""/>
            <p:cNvSpPr/>
            <p:nvPr/>
          </p:nvSpPr>
          <p:spPr>
            <a:xfrm>
              <a:off x="6217920" y="1005840"/>
              <a:ext cx="5349600" cy="1097640"/>
            </a:xfrm>
            <a:custGeom>
              <a:avLst/>
              <a:gdLst/>
              <a:ahLst/>
              <a:rect l="0" t="0" r="r" b="b"/>
              <a:pathLst>
                <a:path w="14860" h="3049">
                  <a:moveTo>
                    <a:pt x="14555" y="0"/>
                  </a:moveTo>
                  <a:cubicBezTo>
                    <a:pt x="14758" y="0"/>
                    <a:pt x="14860" y="101"/>
                    <a:pt x="14860" y="304"/>
                  </a:cubicBezTo>
                  <a:lnTo>
                    <a:pt x="14860" y="2744"/>
                  </a:lnTo>
                  <a:cubicBezTo>
                    <a:pt x="14860" y="2947"/>
                    <a:pt x="14758" y="3049"/>
                    <a:pt x="14555" y="3049"/>
                  </a:cubicBezTo>
                  <a:lnTo>
                    <a:pt x="304" y="3049"/>
                  </a:lnTo>
                  <a:cubicBezTo>
                    <a:pt x="101" y="3049"/>
                    <a:pt x="0" y="2947"/>
                    <a:pt x="0" y="2744"/>
                  </a:cubicBezTo>
                  <a:lnTo>
                    <a:pt x="0" y="304"/>
                  </a:lnTo>
                  <a:cubicBezTo>
                    <a:pt x="0" y="101"/>
                    <a:pt x="101" y="0"/>
                    <a:pt x="304" y="0"/>
                  </a:cubicBezTo>
                  <a:lnTo>
                    <a:pt x="14555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" name=""/>
            <p:cNvSpPr txBox="1"/>
            <p:nvPr/>
          </p:nvSpPr>
          <p:spPr>
            <a:xfrm>
              <a:off x="6256440" y="1044360"/>
              <a:ext cx="5272200" cy="10202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spcAft>
                  <a:spcPts val="300"/>
                </a:spcAft>
              </a:pPr>
              <a:r>
                <a:rPr b="1" lang="en-US" sz="18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Module 2 – Path Planning (Search)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4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BFS, UCS, A*, Cooperative A*, LRTA*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7" name=""/>
          <p:cNvGrpSpPr/>
          <p:nvPr/>
        </p:nvGrpSpPr>
        <p:grpSpPr>
          <a:xfrm>
            <a:off x="640080" y="2331720"/>
            <a:ext cx="5349600" cy="1097640"/>
            <a:chOff x="640080" y="2331720"/>
            <a:chExt cx="5349600" cy="1097640"/>
          </a:xfrm>
        </p:grpSpPr>
        <p:sp>
          <p:nvSpPr>
            <p:cNvPr id="118" name=""/>
            <p:cNvSpPr/>
            <p:nvPr/>
          </p:nvSpPr>
          <p:spPr>
            <a:xfrm>
              <a:off x="640080" y="2331720"/>
              <a:ext cx="5349600" cy="1097640"/>
            </a:xfrm>
            <a:custGeom>
              <a:avLst/>
              <a:gdLst/>
              <a:ahLst/>
              <a:rect l="0" t="0" r="r" b="b"/>
              <a:pathLst>
                <a:path w="14860" h="3049">
                  <a:moveTo>
                    <a:pt x="14555" y="0"/>
                  </a:moveTo>
                  <a:cubicBezTo>
                    <a:pt x="14758" y="0"/>
                    <a:pt x="14860" y="101"/>
                    <a:pt x="14860" y="304"/>
                  </a:cubicBezTo>
                  <a:lnTo>
                    <a:pt x="14860" y="2744"/>
                  </a:lnTo>
                  <a:cubicBezTo>
                    <a:pt x="14860" y="2947"/>
                    <a:pt x="14758" y="3049"/>
                    <a:pt x="14555" y="3049"/>
                  </a:cubicBezTo>
                  <a:lnTo>
                    <a:pt x="304" y="3049"/>
                  </a:lnTo>
                  <a:cubicBezTo>
                    <a:pt x="101" y="3049"/>
                    <a:pt x="0" y="2947"/>
                    <a:pt x="0" y="2744"/>
                  </a:cubicBezTo>
                  <a:lnTo>
                    <a:pt x="0" y="304"/>
                  </a:lnTo>
                  <a:cubicBezTo>
                    <a:pt x="0" y="101"/>
                    <a:pt x="101" y="0"/>
                    <a:pt x="304" y="0"/>
                  </a:cubicBezTo>
                  <a:lnTo>
                    <a:pt x="14555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" name=""/>
            <p:cNvSpPr txBox="1"/>
            <p:nvPr/>
          </p:nvSpPr>
          <p:spPr>
            <a:xfrm>
              <a:off x="678600" y="2370240"/>
              <a:ext cx="5272200" cy="10202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spcAft>
                  <a:spcPts val="300"/>
                </a:spcAft>
              </a:pPr>
              <a:r>
                <a:rPr b="1" lang="en-US" sz="18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Module 3 – CSP Task Allocator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4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AC-3, backtracking, MRV, forward checking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0" name=""/>
          <p:cNvGrpSpPr/>
          <p:nvPr/>
        </p:nvGrpSpPr>
        <p:grpSpPr>
          <a:xfrm>
            <a:off x="6217920" y="2331720"/>
            <a:ext cx="5349600" cy="1097640"/>
            <a:chOff x="6217920" y="2331720"/>
            <a:chExt cx="5349600" cy="1097640"/>
          </a:xfrm>
        </p:grpSpPr>
        <p:sp>
          <p:nvSpPr>
            <p:cNvPr id="121" name=""/>
            <p:cNvSpPr/>
            <p:nvPr/>
          </p:nvSpPr>
          <p:spPr>
            <a:xfrm>
              <a:off x="6217920" y="2331720"/>
              <a:ext cx="5349600" cy="1097640"/>
            </a:xfrm>
            <a:custGeom>
              <a:avLst/>
              <a:gdLst/>
              <a:ahLst/>
              <a:rect l="0" t="0" r="r" b="b"/>
              <a:pathLst>
                <a:path w="14860" h="3049">
                  <a:moveTo>
                    <a:pt x="14555" y="0"/>
                  </a:moveTo>
                  <a:cubicBezTo>
                    <a:pt x="14758" y="0"/>
                    <a:pt x="14860" y="101"/>
                    <a:pt x="14860" y="304"/>
                  </a:cubicBezTo>
                  <a:lnTo>
                    <a:pt x="14860" y="2744"/>
                  </a:lnTo>
                  <a:cubicBezTo>
                    <a:pt x="14860" y="2947"/>
                    <a:pt x="14758" y="3049"/>
                    <a:pt x="14555" y="3049"/>
                  </a:cubicBezTo>
                  <a:lnTo>
                    <a:pt x="304" y="3049"/>
                  </a:lnTo>
                  <a:cubicBezTo>
                    <a:pt x="101" y="3049"/>
                    <a:pt x="0" y="2947"/>
                    <a:pt x="0" y="2744"/>
                  </a:cubicBezTo>
                  <a:lnTo>
                    <a:pt x="0" y="304"/>
                  </a:lnTo>
                  <a:cubicBezTo>
                    <a:pt x="0" y="101"/>
                    <a:pt x="101" y="0"/>
                    <a:pt x="304" y="0"/>
                  </a:cubicBezTo>
                  <a:lnTo>
                    <a:pt x="14555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" name=""/>
            <p:cNvSpPr txBox="1"/>
            <p:nvPr/>
          </p:nvSpPr>
          <p:spPr>
            <a:xfrm>
              <a:off x="6256440" y="2370240"/>
              <a:ext cx="5272200" cy="10202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spcAft>
                  <a:spcPts val="300"/>
                </a:spcAft>
              </a:pPr>
              <a:r>
                <a:rPr b="1" lang="en-US" sz="18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Module 4 – Alpha-Beta Traffic Controller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4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Minimax over MOVE / WAIT / YIELD_SIDE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3" name=""/>
          <p:cNvGrpSpPr/>
          <p:nvPr/>
        </p:nvGrpSpPr>
        <p:grpSpPr>
          <a:xfrm>
            <a:off x="640080" y="3657600"/>
            <a:ext cx="5349600" cy="1097640"/>
            <a:chOff x="640080" y="3657600"/>
            <a:chExt cx="5349600" cy="1097640"/>
          </a:xfrm>
        </p:grpSpPr>
        <p:sp>
          <p:nvSpPr>
            <p:cNvPr id="124" name=""/>
            <p:cNvSpPr/>
            <p:nvPr/>
          </p:nvSpPr>
          <p:spPr>
            <a:xfrm>
              <a:off x="640080" y="3657600"/>
              <a:ext cx="5349600" cy="1097640"/>
            </a:xfrm>
            <a:custGeom>
              <a:avLst/>
              <a:gdLst/>
              <a:ahLst/>
              <a:rect l="0" t="0" r="r" b="b"/>
              <a:pathLst>
                <a:path w="14860" h="3049">
                  <a:moveTo>
                    <a:pt x="14555" y="0"/>
                  </a:moveTo>
                  <a:cubicBezTo>
                    <a:pt x="14758" y="0"/>
                    <a:pt x="14860" y="101"/>
                    <a:pt x="14860" y="304"/>
                  </a:cubicBezTo>
                  <a:lnTo>
                    <a:pt x="14860" y="2744"/>
                  </a:lnTo>
                  <a:cubicBezTo>
                    <a:pt x="14860" y="2947"/>
                    <a:pt x="14758" y="3049"/>
                    <a:pt x="14555" y="3049"/>
                  </a:cubicBezTo>
                  <a:lnTo>
                    <a:pt x="304" y="3049"/>
                  </a:lnTo>
                  <a:cubicBezTo>
                    <a:pt x="101" y="3049"/>
                    <a:pt x="0" y="2947"/>
                    <a:pt x="0" y="2744"/>
                  </a:cubicBezTo>
                  <a:lnTo>
                    <a:pt x="0" y="304"/>
                  </a:lnTo>
                  <a:cubicBezTo>
                    <a:pt x="0" y="101"/>
                    <a:pt x="101" y="0"/>
                    <a:pt x="304" y="0"/>
                  </a:cubicBezTo>
                  <a:lnTo>
                    <a:pt x="14555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" name=""/>
            <p:cNvSpPr txBox="1"/>
            <p:nvPr/>
          </p:nvSpPr>
          <p:spPr>
            <a:xfrm>
              <a:off x="678600" y="3696120"/>
              <a:ext cx="5272200" cy="10202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spcAft>
                  <a:spcPts val="300"/>
                </a:spcAft>
              </a:pPr>
              <a:r>
                <a:rPr b="1" lang="en-US" sz="18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Module 5 – FOL Safety Agent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4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Forward and backward chaining, energy threshold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6" name=""/>
          <p:cNvGrpSpPr/>
          <p:nvPr/>
        </p:nvGrpSpPr>
        <p:grpSpPr>
          <a:xfrm>
            <a:off x="6217920" y="3657600"/>
            <a:ext cx="5349600" cy="1097640"/>
            <a:chOff x="6217920" y="3657600"/>
            <a:chExt cx="5349600" cy="1097640"/>
          </a:xfrm>
        </p:grpSpPr>
        <p:sp>
          <p:nvSpPr>
            <p:cNvPr id="127" name=""/>
            <p:cNvSpPr/>
            <p:nvPr/>
          </p:nvSpPr>
          <p:spPr>
            <a:xfrm>
              <a:off x="6217920" y="3657600"/>
              <a:ext cx="5349600" cy="1097640"/>
            </a:xfrm>
            <a:custGeom>
              <a:avLst/>
              <a:gdLst/>
              <a:ahLst/>
              <a:rect l="0" t="0" r="r" b="b"/>
              <a:pathLst>
                <a:path w="14860" h="3049">
                  <a:moveTo>
                    <a:pt x="14555" y="0"/>
                  </a:moveTo>
                  <a:cubicBezTo>
                    <a:pt x="14758" y="0"/>
                    <a:pt x="14860" y="101"/>
                    <a:pt x="14860" y="304"/>
                  </a:cubicBezTo>
                  <a:lnTo>
                    <a:pt x="14860" y="2744"/>
                  </a:lnTo>
                  <a:cubicBezTo>
                    <a:pt x="14860" y="2947"/>
                    <a:pt x="14758" y="3049"/>
                    <a:pt x="14555" y="3049"/>
                  </a:cubicBezTo>
                  <a:lnTo>
                    <a:pt x="304" y="3049"/>
                  </a:lnTo>
                  <a:cubicBezTo>
                    <a:pt x="101" y="3049"/>
                    <a:pt x="0" y="2947"/>
                    <a:pt x="0" y="2744"/>
                  </a:cubicBezTo>
                  <a:lnTo>
                    <a:pt x="0" y="304"/>
                  </a:lnTo>
                  <a:cubicBezTo>
                    <a:pt x="0" y="101"/>
                    <a:pt x="101" y="0"/>
                    <a:pt x="304" y="0"/>
                  </a:cubicBezTo>
                  <a:lnTo>
                    <a:pt x="14555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" name=""/>
            <p:cNvSpPr txBox="1"/>
            <p:nvPr/>
          </p:nvSpPr>
          <p:spPr>
            <a:xfrm>
              <a:off x="6256440" y="3696120"/>
              <a:ext cx="5272200" cy="10202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spcAft>
                  <a:spcPts val="300"/>
                </a:spcAft>
              </a:pPr>
              <a:r>
                <a:rPr b="1" lang="en-US" sz="18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Module 6 – Slotting Optimizer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4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Simulated Annealing / Hill Climbing for pod return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9" name=""/>
          <p:cNvGrpSpPr/>
          <p:nvPr/>
        </p:nvGrpSpPr>
        <p:grpSpPr>
          <a:xfrm>
            <a:off x="640080" y="4983480"/>
            <a:ext cx="5349600" cy="1097640"/>
            <a:chOff x="640080" y="4983480"/>
            <a:chExt cx="5349600" cy="1097640"/>
          </a:xfrm>
        </p:grpSpPr>
        <p:sp>
          <p:nvSpPr>
            <p:cNvPr id="130" name=""/>
            <p:cNvSpPr/>
            <p:nvPr/>
          </p:nvSpPr>
          <p:spPr>
            <a:xfrm>
              <a:off x="640080" y="4983480"/>
              <a:ext cx="5349600" cy="1097640"/>
            </a:xfrm>
            <a:custGeom>
              <a:avLst/>
              <a:gdLst/>
              <a:ahLst/>
              <a:rect l="0" t="0" r="r" b="b"/>
              <a:pathLst>
                <a:path w="14860" h="3049">
                  <a:moveTo>
                    <a:pt x="14555" y="0"/>
                  </a:moveTo>
                  <a:cubicBezTo>
                    <a:pt x="14758" y="0"/>
                    <a:pt x="14860" y="101"/>
                    <a:pt x="14860" y="304"/>
                  </a:cubicBezTo>
                  <a:lnTo>
                    <a:pt x="14860" y="2744"/>
                  </a:lnTo>
                  <a:cubicBezTo>
                    <a:pt x="14860" y="2947"/>
                    <a:pt x="14758" y="3049"/>
                    <a:pt x="14555" y="3049"/>
                  </a:cubicBezTo>
                  <a:lnTo>
                    <a:pt x="304" y="3049"/>
                  </a:lnTo>
                  <a:cubicBezTo>
                    <a:pt x="101" y="3049"/>
                    <a:pt x="0" y="2947"/>
                    <a:pt x="0" y="2744"/>
                  </a:cubicBezTo>
                  <a:lnTo>
                    <a:pt x="0" y="304"/>
                  </a:lnTo>
                  <a:cubicBezTo>
                    <a:pt x="0" y="101"/>
                    <a:pt x="101" y="0"/>
                    <a:pt x="304" y="0"/>
                  </a:cubicBezTo>
                  <a:lnTo>
                    <a:pt x="14555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" name=""/>
            <p:cNvSpPr txBox="1"/>
            <p:nvPr/>
          </p:nvSpPr>
          <p:spPr>
            <a:xfrm>
              <a:off x="678600" y="5022000"/>
              <a:ext cx="5272200" cy="10202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spcAft>
                  <a:spcPts val="300"/>
                </a:spcAft>
              </a:pPr>
              <a:r>
                <a:rPr b="1" lang="en-US" sz="18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Module 7 – Simulation Engine &amp; API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4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Tick loop, order lifecycle, FastAPI + WebSocket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" name=""/>
          <p:cNvGrpSpPr/>
          <p:nvPr/>
        </p:nvGrpSpPr>
        <p:grpSpPr>
          <a:xfrm>
            <a:off x="6217920" y="4983480"/>
            <a:ext cx="5349600" cy="1097640"/>
            <a:chOff x="6217920" y="4983480"/>
            <a:chExt cx="5349600" cy="1097640"/>
          </a:xfrm>
        </p:grpSpPr>
        <p:sp>
          <p:nvSpPr>
            <p:cNvPr id="133" name=""/>
            <p:cNvSpPr/>
            <p:nvPr/>
          </p:nvSpPr>
          <p:spPr>
            <a:xfrm>
              <a:off x="6217920" y="4983480"/>
              <a:ext cx="5349600" cy="1097640"/>
            </a:xfrm>
            <a:custGeom>
              <a:avLst/>
              <a:gdLst/>
              <a:ahLst/>
              <a:rect l="0" t="0" r="r" b="b"/>
              <a:pathLst>
                <a:path w="14860" h="3049">
                  <a:moveTo>
                    <a:pt x="14555" y="0"/>
                  </a:moveTo>
                  <a:cubicBezTo>
                    <a:pt x="14758" y="0"/>
                    <a:pt x="14860" y="101"/>
                    <a:pt x="14860" y="304"/>
                  </a:cubicBezTo>
                  <a:lnTo>
                    <a:pt x="14860" y="2744"/>
                  </a:lnTo>
                  <a:cubicBezTo>
                    <a:pt x="14860" y="2947"/>
                    <a:pt x="14758" y="3049"/>
                    <a:pt x="14555" y="3049"/>
                  </a:cubicBezTo>
                  <a:lnTo>
                    <a:pt x="304" y="3049"/>
                  </a:lnTo>
                  <a:cubicBezTo>
                    <a:pt x="101" y="3049"/>
                    <a:pt x="0" y="2947"/>
                    <a:pt x="0" y="2744"/>
                  </a:cubicBezTo>
                  <a:lnTo>
                    <a:pt x="0" y="304"/>
                  </a:lnTo>
                  <a:cubicBezTo>
                    <a:pt x="0" y="101"/>
                    <a:pt x="101" y="0"/>
                    <a:pt x="304" y="0"/>
                  </a:cubicBezTo>
                  <a:lnTo>
                    <a:pt x="14555" y="0"/>
                  </a:lnTo>
                  <a:close/>
                </a:path>
              </a:pathLst>
            </a:custGeom>
            <a:solidFill>
              <a:srgbClr val="f2f6fa"/>
            </a:solidFill>
            <a:ln w="12600">
              <a:solidFill>
                <a:srgbClr val="3364a4"/>
              </a:solidFill>
              <a:round/>
            </a:ln>
          </p:spPr>
          <p:txBody>
            <a:bodyPr lIns="96120" rIns="96120" tIns="51120" bIns="511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" name=""/>
            <p:cNvSpPr txBox="1"/>
            <p:nvPr/>
          </p:nvSpPr>
          <p:spPr>
            <a:xfrm>
              <a:off x="6256440" y="5022000"/>
              <a:ext cx="5272200" cy="10202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spcAft>
                  <a:spcPts val="300"/>
                </a:spcAft>
              </a:pPr>
              <a:r>
                <a:rPr b="1" lang="en-US" sz="1800" spc="-1" strike="noStrike">
                  <a:solidFill>
                    <a:srgbClr val="3364a4"/>
                  </a:solidFill>
                  <a:latin typeface="Calibri-Bold"/>
                  <a:ea typeface="Calibri-Bold"/>
                </a:rPr>
                <a:t>Module 8 – Web Dashboard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400" spc="-1" strike="noStrike">
                  <a:solidFill>
                    <a:srgbClr val="5e6872"/>
                  </a:solidFill>
                  <a:latin typeface="Calibri"/>
                  <a:ea typeface="Calibri"/>
                </a:rPr>
                <a:t>Canvas, dispatch queue, telemetry, KB query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Preliminary Results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548640" y="1005840"/>
            <a:ext cx="5486760" cy="3566520"/>
          </a:xfrm>
          <a:custGeom>
            <a:avLst/>
            <a:gdLst/>
            <a:ahLst/>
            <a:rect l="0" t="0" r="r" b="b"/>
            <a:pathLst>
              <a:path w="15241" h="9907">
                <a:moveTo>
                  <a:pt x="14936" y="0"/>
                </a:moveTo>
                <a:cubicBezTo>
                  <a:pt x="15139" y="0"/>
                  <a:pt x="15241" y="101"/>
                  <a:pt x="15241" y="304"/>
                </a:cubicBezTo>
                <a:lnTo>
                  <a:pt x="15241" y="9603"/>
                </a:lnTo>
                <a:cubicBezTo>
                  <a:pt x="15241" y="9806"/>
                  <a:pt x="15139" y="9907"/>
                  <a:pt x="14936" y="9907"/>
                </a:cubicBezTo>
                <a:lnTo>
                  <a:pt x="304" y="9907"/>
                </a:lnTo>
                <a:cubicBezTo>
                  <a:pt x="101" y="9907"/>
                  <a:pt x="0" y="9806"/>
                  <a:pt x="0" y="9603"/>
                </a:cubicBezTo>
                <a:lnTo>
                  <a:pt x="0" y="304"/>
                </a:lnTo>
                <a:cubicBezTo>
                  <a:pt x="0" y="101"/>
                  <a:pt x="101" y="0"/>
                  <a:pt x="304" y="0"/>
                </a:cubicBezTo>
                <a:lnTo>
                  <a:pt x="14936" y="0"/>
                </a:lnTo>
                <a:close/>
              </a:path>
            </a:pathLst>
          </a:custGeom>
          <a:solidFill>
            <a:srgbClr val="f2f6fa"/>
          </a:solidFill>
          <a:ln w="12600">
            <a:solidFill>
              <a:srgbClr val="3364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548640" y="1005840"/>
            <a:ext cx="5486400" cy="356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 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 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 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A*: 60 nodes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█████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BFS: 138 nodes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████████████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UCS: 394 nodes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█████████████████████████████████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Each block = 12 nodes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6172200" y="1005840"/>
            <a:ext cx="5486760" cy="3566520"/>
          </a:xfrm>
          <a:custGeom>
            <a:avLst/>
            <a:gdLst/>
            <a:ahLst/>
            <a:rect l="0" t="0" r="r" b="b"/>
            <a:pathLst>
              <a:path w="15241" h="9907">
                <a:moveTo>
                  <a:pt x="14936" y="0"/>
                </a:moveTo>
                <a:cubicBezTo>
                  <a:pt x="15139" y="0"/>
                  <a:pt x="15241" y="101"/>
                  <a:pt x="15241" y="304"/>
                </a:cubicBezTo>
                <a:lnTo>
                  <a:pt x="15241" y="9603"/>
                </a:lnTo>
                <a:cubicBezTo>
                  <a:pt x="15241" y="9806"/>
                  <a:pt x="15139" y="9907"/>
                  <a:pt x="14936" y="9907"/>
                </a:cubicBezTo>
                <a:lnTo>
                  <a:pt x="304" y="9907"/>
                </a:lnTo>
                <a:cubicBezTo>
                  <a:pt x="101" y="9907"/>
                  <a:pt x="0" y="9806"/>
                  <a:pt x="0" y="9603"/>
                </a:cubicBezTo>
                <a:lnTo>
                  <a:pt x="0" y="304"/>
                </a:lnTo>
                <a:cubicBezTo>
                  <a:pt x="0" y="101"/>
                  <a:pt x="101" y="0"/>
                  <a:pt x="304" y="0"/>
                </a:cubicBezTo>
                <a:lnTo>
                  <a:pt x="14936" y="0"/>
                </a:lnTo>
                <a:close/>
              </a:path>
            </a:pathLst>
          </a:custGeom>
          <a:solidFill>
            <a:srgbClr val="f2f6fa"/>
          </a:solidFill>
          <a:ln w="12600">
            <a:solidFill>
              <a:srgbClr val="3364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6172200" y="1005840"/>
            <a:ext cx="5486400" cy="356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 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 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 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Alpha-Beta: 211 nodes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████████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Plain Minimax: 765 nodes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███████████████████████████████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Alpha-Beta searched 72% fewer nodes and chose the same moves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Each block = 25 nodes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731520" y="1078920"/>
            <a:ext cx="512064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3364a4"/>
                </a:solidFill>
                <a:latin typeface="Calibri-Bold"/>
                <a:ea typeface="Calibri-Bold"/>
              </a:rPr>
              <a:t>Avg nodes expanded per route (8-order wave)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355080" y="1078920"/>
            <a:ext cx="512064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3364a4"/>
                </a:solidFill>
                <a:latin typeface="Calibri-Bold"/>
                <a:ea typeface="Calibri-Bold"/>
              </a:rPr>
              <a:t>Nodes explored on one head-on conflict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548640" y="4800600"/>
            <a:ext cx="2697840" cy="1371960"/>
          </a:xfrm>
          <a:custGeom>
            <a:avLst/>
            <a:gdLst/>
            <a:ahLst/>
            <a:rect l="0" t="0" r="r" b="b"/>
            <a:pathLst>
              <a:path w="7494" h="3811">
                <a:moveTo>
                  <a:pt x="7240" y="0"/>
                </a:moveTo>
                <a:cubicBezTo>
                  <a:pt x="7409" y="0"/>
                  <a:pt x="7494" y="85"/>
                  <a:pt x="7494" y="254"/>
                </a:cubicBezTo>
                <a:lnTo>
                  <a:pt x="7494" y="3556"/>
                </a:lnTo>
                <a:cubicBezTo>
                  <a:pt x="7494" y="3726"/>
                  <a:pt x="7409" y="3811"/>
                  <a:pt x="7240" y="3811"/>
                </a:cubicBezTo>
                <a:lnTo>
                  <a:pt x="254" y="3811"/>
                </a:lnTo>
                <a:cubicBezTo>
                  <a:pt x="85" y="3811"/>
                  <a:pt x="0" y="3726"/>
                  <a:pt x="0" y="3556"/>
                </a:cubicBezTo>
                <a:lnTo>
                  <a:pt x="0" y="254"/>
                </a:lnTo>
                <a:cubicBezTo>
                  <a:pt x="0" y="85"/>
                  <a:pt x="85" y="0"/>
                  <a:pt x="254" y="0"/>
                </a:cubicBezTo>
                <a:lnTo>
                  <a:pt x="724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3364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548640" y="4846320"/>
            <a:ext cx="26974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3600" spc="-1" strike="noStrike">
                <a:solidFill>
                  <a:srgbClr val="1e3655"/>
                </a:solidFill>
                <a:latin typeface="Calibri-Bold"/>
                <a:ea typeface="Calibri-Bold"/>
              </a:rPr>
              <a:t>8 / 8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640080" y="5577840"/>
            <a:ext cx="2514600" cy="50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orders completed in 700 ticks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3355920" y="4800600"/>
            <a:ext cx="2697840" cy="1371960"/>
          </a:xfrm>
          <a:custGeom>
            <a:avLst/>
            <a:gdLst/>
            <a:ahLst/>
            <a:rect l="0" t="0" r="r" b="b"/>
            <a:pathLst>
              <a:path w="7494" h="3811">
                <a:moveTo>
                  <a:pt x="7240" y="0"/>
                </a:moveTo>
                <a:cubicBezTo>
                  <a:pt x="7409" y="0"/>
                  <a:pt x="7494" y="85"/>
                  <a:pt x="7494" y="254"/>
                </a:cubicBezTo>
                <a:lnTo>
                  <a:pt x="7494" y="3556"/>
                </a:lnTo>
                <a:cubicBezTo>
                  <a:pt x="7494" y="3726"/>
                  <a:pt x="7409" y="3811"/>
                  <a:pt x="7240" y="3811"/>
                </a:cubicBezTo>
                <a:lnTo>
                  <a:pt x="254" y="3811"/>
                </a:lnTo>
                <a:cubicBezTo>
                  <a:pt x="85" y="3811"/>
                  <a:pt x="0" y="3726"/>
                  <a:pt x="0" y="3556"/>
                </a:cubicBezTo>
                <a:lnTo>
                  <a:pt x="0" y="254"/>
                </a:lnTo>
                <a:cubicBezTo>
                  <a:pt x="0" y="85"/>
                  <a:pt x="85" y="0"/>
                  <a:pt x="254" y="0"/>
                </a:cubicBezTo>
                <a:lnTo>
                  <a:pt x="724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3364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3355920" y="4846320"/>
            <a:ext cx="26974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3600" spc="-1" strike="noStrike">
                <a:solidFill>
                  <a:srgbClr val="1e3655"/>
                </a:solidFill>
                <a:latin typeface="Calibri-Bold"/>
                <a:ea typeface="Calibri-Bold"/>
              </a:rPr>
              <a:t>0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3447360" y="5577840"/>
            <a:ext cx="2514600" cy="50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collisions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6163200" y="4800600"/>
            <a:ext cx="2697840" cy="1371960"/>
          </a:xfrm>
          <a:custGeom>
            <a:avLst/>
            <a:gdLst/>
            <a:ahLst/>
            <a:rect l="0" t="0" r="r" b="b"/>
            <a:pathLst>
              <a:path w="7494" h="3811">
                <a:moveTo>
                  <a:pt x="7240" y="0"/>
                </a:moveTo>
                <a:cubicBezTo>
                  <a:pt x="7409" y="0"/>
                  <a:pt x="7494" y="85"/>
                  <a:pt x="7494" y="254"/>
                </a:cubicBezTo>
                <a:lnTo>
                  <a:pt x="7494" y="3556"/>
                </a:lnTo>
                <a:cubicBezTo>
                  <a:pt x="7494" y="3726"/>
                  <a:pt x="7409" y="3811"/>
                  <a:pt x="7240" y="3811"/>
                </a:cubicBezTo>
                <a:lnTo>
                  <a:pt x="254" y="3811"/>
                </a:lnTo>
                <a:cubicBezTo>
                  <a:pt x="85" y="3811"/>
                  <a:pt x="0" y="3726"/>
                  <a:pt x="0" y="3556"/>
                </a:cubicBezTo>
                <a:lnTo>
                  <a:pt x="0" y="254"/>
                </a:lnTo>
                <a:cubicBezTo>
                  <a:pt x="0" y="85"/>
                  <a:pt x="85" y="0"/>
                  <a:pt x="254" y="0"/>
                </a:cubicBezTo>
                <a:lnTo>
                  <a:pt x="724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3364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163200" y="4846320"/>
            <a:ext cx="26974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3600" spc="-1" strike="noStrike">
                <a:solidFill>
                  <a:srgbClr val="1e3655"/>
                </a:solidFill>
                <a:latin typeface="Calibri-Bold"/>
                <a:ea typeface="Calibri-Bold"/>
              </a:rPr>
              <a:t>0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6254640" y="5577840"/>
            <a:ext cx="2514600" cy="50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inventory-zone violations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8970120" y="4800600"/>
            <a:ext cx="2697840" cy="1371960"/>
          </a:xfrm>
          <a:custGeom>
            <a:avLst/>
            <a:gdLst/>
            <a:ahLst/>
            <a:rect l="0" t="0" r="r" b="b"/>
            <a:pathLst>
              <a:path w="7494" h="3811">
                <a:moveTo>
                  <a:pt x="7240" y="0"/>
                </a:moveTo>
                <a:cubicBezTo>
                  <a:pt x="7409" y="0"/>
                  <a:pt x="7494" y="85"/>
                  <a:pt x="7494" y="254"/>
                </a:cubicBezTo>
                <a:lnTo>
                  <a:pt x="7494" y="3556"/>
                </a:lnTo>
                <a:cubicBezTo>
                  <a:pt x="7494" y="3726"/>
                  <a:pt x="7409" y="3811"/>
                  <a:pt x="7240" y="3811"/>
                </a:cubicBezTo>
                <a:lnTo>
                  <a:pt x="254" y="3811"/>
                </a:lnTo>
                <a:cubicBezTo>
                  <a:pt x="85" y="3811"/>
                  <a:pt x="0" y="3726"/>
                  <a:pt x="0" y="3556"/>
                </a:cubicBezTo>
                <a:lnTo>
                  <a:pt x="0" y="254"/>
                </a:lnTo>
                <a:cubicBezTo>
                  <a:pt x="0" y="85"/>
                  <a:pt x="85" y="0"/>
                  <a:pt x="254" y="0"/>
                </a:cubicBezTo>
                <a:lnTo>
                  <a:pt x="7240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3364a4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8970120" y="4846320"/>
            <a:ext cx="26974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3600" spc="-1" strike="noStrike">
                <a:solidFill>
                  <a:srgbClr val="1e3655"/>
                </a:solidFill>
                <a:latin typeface="Calibri-Bold"/>
                <a:ea typeface="Calibri-Bold"/>
              </a:rPr>
              <a:t>12 / 12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9061560" y="5577840"/>
            <a:ext cx="2514600" cy="50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400" spc="-1" strike="noStrike">
                <a:solidFill>
                  <a:srgbClr val="5e6872"/>
                </a:solidFill>
                <a:latin typeface="Calibri"/>
                <a:ea typeface="Calibri"/>
              </a:rPr>
              <a:t>automated tests passing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Project Schedule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5" name=""/>
          <p:cNvGraphicFramePr/>
          <p:nvPr/>
        </p:nvGraphicFramePr>
        <p:xfrm>
          <a:off x="731520" y="1097280"/>
          <a:ext cx="10698480" cy="4480560"/>
        </p:xfrm>
        <a:graphic>
          <a:graphicData uri="http://schemas.openxmlformats.org/drawingml/2006/table">
            <a:tbl>
              <a:tblPr/>
              <a:tblGrid>
                <a:gridCol w="3200400"/>
                <a:gridCol w="1874520"/>
                <a:gridCol w="1874520"/>
                <a:gridCol w="1874520"/>
                <a:gridCol w="1874520"/>
              </a:tblGrid>
              <a:tr h="64008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Month 1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Month 2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Month 3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Month 4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</a:rPr>
                        <a:t>Literature Survey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>✓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>✓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</a:tr>
              <a:tr h="64008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</a:rPr>
                        <a:t>Problem Identification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>✓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</a:rPr>
                        <a:t>System Design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>✓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>✓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</a:tr>
              <a:tr h="64008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</a:rPr>
                        <a:t>Implementation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>✓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>✓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</a:rPr>
                        <a:t>Web Dashboard / UI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>✓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>✓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</a:tr>
              <a:tr h="64008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</a:rPr>
                        <a:t>Testing &amp; Evaluation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</a:rPr>
                        <a:t>✓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Current Progress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822960" y="1188720"/>
            <a:ext cx="10607040" cy="5120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solidFill>
                  <a:srgbClr val="5e6872"/>
                </a:solidFill>
                <a:latin typeface="Arial"/>
                <a:ea typeface="Arial"/>
              </a:rPr>
              <a:t>✓ </a:t>
            </a:r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Literature survey completed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800" spc="-1" strike="noStrike">
                <a:solidFill>
                  <a:srgbClr val="5e6872"/>
                </a:solidFill>
                <a:latin typeface="Arial"/>
                <a:ea typeface="Arial"/>
              </a:rPr>
              <a:t>✓ </a:t>
            </a:r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Problem identification completed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800" spc="-1" strike="noStrike">
                <a:solidFill>
                  <a:srgbClr val="5e6872"/>
                </a:solidFill>
                <a:latin typeface="Arial"/>
                <a:ea typeface="Arial"/>
              </a:rPr>
              <a:t>✓ </a:t>
            </a:r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Requirement analysis / methodology finalized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800" spc="-1" strike="noStrike">
                <a:solidFill>
                  <a:srgbClr val="5e6872"/>
                </a:solidFill>
                <a:latin typeface="Arial"/>
                <a:ea typeface="Arial"/>
              </a:rPr>
              <a:t>✓ </a:t>
            </a:r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Core implementation completed (backend modules and web dashboard)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800" spc="-1" strike="noStrike">
                <a:solidFill>
                  <a:srgbClr val="5e6872"/>
                </a:solidFill>
                <a:latin typeface="Arial"/>
                <a:ea typeface="Arial"/>
              </a:rPr>
              <a:t>✓ </a:t>
            </a:r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Algorithm and simulation tests passing (12 of 12)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☐ </a:t>
            </a:r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Final evaluation completed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Future Work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822960" y="1188720"/>
            <a:ext cx="10607040" cy="5120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Benchmark A* and Cooperative A* on larger fleets (20+ robots) and heavier order waves.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Extend the Alpha-Beta controller from two-robot conflicts to three-way intersection deadlocks.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Compare against a baseline with fixed routes and first-come-first-served assignment to show improvement.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Add idle-time re-slotting so frequently ordered pods are moved closer to stations (return slots are already heat-aware).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Prepare the final report, user documentation and presentation for the final review.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Conclusion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SWARM-WH coordinates a Kiva-style robot fleet as a multi-agent planning problem solved with CSP, A*, Cooperative A*, Alpha-Beta search, simulated annealing and first-order logic.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Robots stay out of inventory space unless picking a pod, avoid collisions through reservations and adversarial search, and recharge by a distance-based energy rule.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5e6872"/>
                </a:solidFill>
                <a:latin typeface="Calibri"/>
                <a:ea typeface="Calibri"/>
              </a:rPr>
              <a:t>The working prototype completes order waves with zero collisions and zero inventory-zone violations in testing, and explains each decision to the operator.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 txBox="1"/>
          <p:nvPr/>
        </p:nvSpPr>
        <p:spPr>
          <a:xfrm>
            <a:off x="1097280" y="45720"/>
            <a:ext cx="9966960" cy="5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References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822960" y="1097280"/>
            <a:ext cx="10607040" cy="5120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5e6872"/>
                </a:solidFill>
                <a:latin typeface="Calibri"/>
                <a:ea typeface="Calibri"/>
              </a:rPr>
              <a:t>[1] S. Russell and P. Norvig, “Artificial Intelligence: A Modern Approach,” 4th ed., Pearson, 2021.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5e6872"/>
                </a:solidFill>
                <a:latin typeface="Calibri"/>
                <a:ea typeface="Calibri"/>
              </a:rPr>
              <a:t>[2] P. E. Hart, N. J. Nilsson, and B. Raphael, “A formal basis for the heuristic determination of minimum cost paths,” IEEE Trans. Syst. Sci. Cybern., vol. 4, no. 2, pp. 100–107, 1968.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5e6872"/>
                </a:solidFill>
                <a:latin typeface="Calibri"/>
                <a:ea typeface="Calibri"/>
              </a:rPr>
              <a:t>[3] P. R. Wurman, R. D’Andrea, and M. Mountz, “Coordinating hundreds of cooperative, autonomous vehicles in warehouses,” AI Magazine, vol. 29, no. 1, pp. 9–20, 2008.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5e6872"/>
                </a:solidFill>
                <a:latin typeface="Calibri"/>
                <a:ea typeface="Calibri"/>
              </a:rPr>
              <a:t>[4] D. Silver, “Cooperative pathfinding,” in Proc. 1st AAAI Conf. Artificial Intelligence and Interactive Digital Entertainment (AIIDE), 2005, pp. 117–122.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5e6872"/>
                </a:solidFill>
                <a:latin typeface="Calibri"/>
                <a:ea typeface="Calibri"/>
              </a:rPr>
              <a:t>[5] D. E. Knuth and R. W. Moore, “An analysis of alpha-beta pruning,” Artificial Intelligence, vol. 6, no. 4, pp. 293–326, 1975.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5e6872"/>
                </a:solidFill>
                <a:latin typeface="Calibri"/>
                <a:ea typeface="Calibri"/>
              </a:rPr>
              <a:t>[6] A. K. Mackworth, “Consistency in networks of relations,” Artificial Intelligence, vol. 8, no. 1, pp. 99–118, 1977.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 txBox="1"/>
          <p:nvPr/>
        </p:nvSpPr>
        <p:spPr>
          <a:xfrm>
            <a:off x="731520" y="2377440"/>
            <a:ext cx="10725840" cy="274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spcBef>
                <a:spcPts val="1295"/>
              </a:spcBef>
              <a:spcAft>
                <a:spcPts val="1001"/>
              </a:spcAft>
            </a:pPr>
            <a:r>
              <a:rPr b="1" lang="en-US" sz="5400" spc="-1" strike="noStrike">
                <a:solidFill>
                  <a:srgbClr val="1e3655"/>
                </a:solidFill>
                <a:latin typeface="Calibri-Bold"/>
                <a:ea typeface="Calibri-Bold"/>
              </a:rPr>
              <a:t>THANK YOU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672"/>
              </a:spcBef>
            </a:pPr>
            <a:r>
              <a:rPr b="0" lang="en-US" sz="2800" spc="-1" strike="noStrike">
                <a:solidFill>
                  <a:srgbClr val="5e6872"/>
                </a:solidFill>
                <a:latin typeface="Calibri"/>
                <a:ea typeface="Calibri"/>
              </a:rPr>
              <a:t>Questions &amp; Suggestions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