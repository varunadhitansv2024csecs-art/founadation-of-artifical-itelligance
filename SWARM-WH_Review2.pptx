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2CC25E4-D585-43B1-A0D2-DDE05D53108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HelveticaNeue"/>
                <a:ea typeface="HelveticaNeue"/>
              </a:rPr>
              <a:t>Project identity: SWARM-WH, CS23533 Foundations of Artificial Intelligence, Review 2. Presenters: Naveen Prabhu S K (241901069) and Varun Adhitan S V (241901121). Supervisor: Dr. Bhuvana 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HelveticaNeue"/>
                <a:ea typeface="HelveticaNeue"/>
              </a:rPr>
              <a:t>Problem framing follows the project brief and the Review 1 deck. Statements are design-level, not statistics.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HelveticaNeue"/>
                <a:ea typeface="HelveticaNeue"/>
              </a:rPr>
              <a:t>Objectives carried over from Review 1 and aligned with the implemented modules.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HelveticaNeue"/>
                <a:ea typeface="HelveticaNeue"/>
              </a:rPr>
              <a:t>Review 1 date is taken from the Review 1 deck (09.09.2026). Progress reflects the implemented code base and the pytest suite (12 tests passing).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HelveticaNeue"/>
                <a:ea typeface="HelveticaNeue"/>
              </a:rPr>
              <a:t>Classical references for the techniques used in SWARM-WH: A*, Kiva-style warehouse coordination and Cooperative A*. Limitations describe differences in project scope, not failures of the cited work.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HelveticaNeue"/>
                <a:ea typeface="HelveticaNeue"/>
              </a:rPr>
              <a:t>Verify volume and page details against the originals before final submission.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HelveticaNeue"/>
                <a:ea typeface="HelveticaNeue"/>
              </a:rPr>
              <a:t>References for Cooperative A*, Alpha-Beta pruning and AC-3 arc consistency. Limitations describe differences in project scope, not failures of the cited work.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HelveticaNeue"/>
                <a:ea typeface="HelveticaNeue"/>
              </a:rPr>
              <a:t>Project-level synthesis of references on slides 5 and 6. No claim that the combination is globally novel. Progress figures come from the pytest suite and the simulation run on slide 15.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HelveticaNeue"/>
                <a:ea typeface="HelveticaNeue"/>
              </a:rPr>
              <a:t>Architecture based on backend/main.py, backend/sim/engine.py and the AI modules (search, csp, games, logic, local_search).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HelveticaNeue"/>
                <a:ea typeface="HelveticaNeue"/>
              </a:rPr>
              <a:t>Level 0 DFD. External entities: Operator (dispatches products, drops obstacles) and the simulated Robot fleet. Process: SWARM-WH. Data store: warehouse state with reservation table and safety rules.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HelveticaNeue"/>
                <a:ea typeface="HelveticaNeue"/>
              </a:rPr>
              <a:t>Development and runtime workflows follow the implemented pipeline: CSP allocation, A* and Cooperative A* routing, Alpha-Beta conflict resolution, safety-agent energy check, annealing-based pod return.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HelveticaNeue"/>
                <a:ea typeface="HelveticaNeue"/>
              </a:rPr>
              <a:t>Technologies match requirements.txt and the frontend files. The UI loads Tailwind, Lucide and Chart.js from CDNs, so the browser needs internet access.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HelveticaNeue"/>
                <a:ea typeface="HelveticaNeue"/>
              </a:rPr>
              <a:t>Module status reflects the code base and the 12 passing pytest tests. The dashboard has been exercised against live backend data but not yet screenshotted.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HelveticaNeue"/>
                <a:ea typeface="HelveticaNeue"/>
              </a:rPr>
              <a:t>Details from backend/sim/warehouse.py and backend/search/pathfinding.py. The zone rule is implemented once in Warehouse.passable() and enforced by every planner.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HelveticaNeue"/>
                <a:ea typeface="HelveticaNeue"/>
              </a:rPr>
              <a:t>Details from backend/csp/allocator.py, backend/games/traffic.py and backend/logic/safety_kb.py. E_required = A* steps to the nearest free charger x drain rate + buffer.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HelveticaNeue"/>
                <a:ea typeface="HelveticaNeue"/>
              </a:rPr>
              <a:t>Values from Engine().wave(8) run for 700 ticks (default seed), one sample conflict in TrafficController, a forced-drain test and pytest (12 passed). Re-run before the demo to confirm the numbers.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HelveticaNeue"/>
                <a:ea typeface="HelveticaNeue"/>
              </a:rPr>
              <a:t>Screenshots must be captured from the running application (python run.py). They are not included yet.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HelveticaNeue"/>
                <a:ea typeface="HelveticaNeue"/>
              </a:rPr>
              <a:t>Challenges and responses come from the implemented system (SLIP_PROB in engine.py, passable() in warehouse.py). Remaining issues are listed honestly as future work.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HelveticaNeue"/>
                <a:ea typeface="HelveticaNeue"/>
              </a:rPr>
              <a:t>Four-week schedule is a proposed plan, not a confirmed institutional deadline.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HelveticaNeue"/>
                <a:ea typeface="HelveticaNeue"/>
              </a:rPr>
              <a:t>Classical AI references plus Python and FastAPI documentation.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HelveticaNeue"/>
                <a:ea typeface="HelveticaNeue"/>
              </a:rPr>
              <a:t>Verify volume and page details against the originals before final submission.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66863" sy="16686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914400" y="2394000"/>
            <a:ext cx="10362960" cy="109800"/>
            <a:chOff x="914400" y="2394000"/>
            <a:chExt cx="10362960" cy="109800"/>
          </a:xfrm>
        </p:grpSpPr>
        <p:sp>
          <p:nvSpPr>
            <p:cNvPr id="1" name=""/>
            <p:cNvSpPr/>
            <p:nvPr/>
          </p:nvSpPr>
          <p:spPr>
            <a:xfrm>
              <a:off x="914400" y="2394000"/>
              <a:ext cx="6404760" cy="109800"/>
            </a:xfrm>
            <a:custGeom>
              <a:avLst/>
              <a:gdLst/>
              <a:ahLst/>
              <a:rect l="0" t="0" r="r" b="b"/>
              <a:pathLst>
                <a:path w="17791" h="305">
                  <a:moveTo>
                    <a:pt x="0" y="0"/>
                  </a:moveTo>
                  <a:lnTo>
                    <a:pt x="17791" y="0"/>
                  </a:lnTo>
                  <a:lnTo>
                    <a:pt x="17791" y="305"/>
                  </a:lnTo>
                  <a:lnTo>
                    <a:pt x="0" y="3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914400" y="2394000"/>
              <a:ext cx="10362960" cy="0"/>
            </a:xfrm>
            <a:prstGeom prst="line">
              <a:avLst/>
            </a:prstGeom>
            <a:ln w="9360">
              <a:solidFill>
                <a:srgbClr val="cc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4680" rIns="94680" tIns="-49680" bIns="-4968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66863" sy="16686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/>
          <p:cNvGrpSpPr/>
          <p:nvPr/>
        </p:nvGrpSpPr>
        <p:grpSpPr>
          <a:xfrm>
            <a:off x="812880" y="1566720"/>
            <a:ext cx="10610640" cy="109800"/>
            <a:chOff x="812880" y="1566720"/>
            <a:chExt cx="10610640" cy="109800"/>
          </a:xfrm>
        </p:grpSpPr>
        <p:sp>
          <p:nvSpPr>
            <p:cNvPr id="8" name=""/>
            <p:cNvSpPr/>
            <p:nvPr/>
          </p:nvSpPr>
          <p:spPr>
            <a:xfrm>
              <a:off x="812880" y="1566720"/>
              <a:ext cx="6207840" cy="109800"/>
            </a:xfrm>
            <a:custGeom>
              <a:avLst/>
              <a:gdLst/>
              <a:ahLst/>
              <a:rect l="0" t="0" r="r" b="b"/>
              <a:pathLst>
                <a:path w="17244" h="305">
                  <a:moveTo>
                    <a:pt x="0" y="0"/>
                  </a:moveTo>
                  <a:lnTo>
                    <a:pt x="17244" y="0"/>
                  </a:lnTo>
                  <a:lnTo>
                    <a:pt x="17244" y="305"/>
                  </a:lnTo>
                  <a:lnTo>
                    <a:pt x="0" y="3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812880" y="1566720"/>
              <a:ext cx="10610640" cy="0"/>
            </a:xfrm>
            <a:prstGeom prst="line">
              <a:avLst/>
            </a:prstGeom>
            <a:ln w="9360">
              <a:solidFill>
                <a:srgbClr val="cc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4680" rIns="94680" tIns="-49680" bIns="-4968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" name=""/>
          <p:cNvSpPr/>
          <p:nvPr/>
        </p:nvSpPr>
        <p:spPr>
          <a:xfrm>
            <a:off x="812880" y="6173640"/>
            <a:ext cx="10566360" cy="0"/>
          </a:xfrm>
          <a:prstGeom prst="line">
            <a:avLst/>
          </a:prstGeom>
          <a:ln w="324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66863" sy="16686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"/>
          <p:cNvGrpSpPr/>
          <p:nvPr/>
        </p:nvGrpSpPr>
        <p:grpSpPr>
          <a:xfrm>
            <a:off x="812880" y="1566720"/>
            <a:ext cx="10610640" cy="109800"/>
            <a:chOff x="812880" y="1566720"/>
            <a:chExt cx="10610640" cy="109800"/>
          </a:xfrm>
        </p:grpSpPr>
        <p:sp>
          <p:nvSpPr>
            <p:cNvPr id="14" name=""/>
            <p:cNvSpPr/>
            <p:nvPr/>
          </p:nvSpPr>
          <p:spPr>
            <a:xfrm>
              <a:off x="812880" y="1566720"/>
              <a:ext cx="6207840" cy="109800"/>
            </a:xfrm>
            <a:custGeom>
              <a:avLst/>
              <a:gdLst/>
              <a:ahLst/>
              <a:rect l="0" t="0" r="r" b="b"/>
              <a:pathLst>
                <a:path w="17244" h="305">
                  <a:moveTo>
                    <a:pt x="0" y="0"/>
                  </a:moveTo>
                  <a:lnTo>
                    <a:pt x="17244" y="0"/>
                  </a:lnTo>
                  <a:lnTo>
                    <a:pt x="17244" y="305"/>
                  </a:lnTo>
                  <a:lnTo>
                    <a:pt x="0" y="3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812880" y="1566720"/>
              <a:ext cx="10610640" cy="0"/>
            </a:xfrm>
            <a:prstGeom prst="line">
              <a:avLst/>
            </a:prstGeom>
            <a:ln w="9360">
              <a:solidFill>
                <a:srgbClr val="cc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4680" rIns="94680" tIns="-49680" bIns="-4968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" name=""/>
          <p:cNvSpPr/>
          <p:nvPr/>
        </p:nvSpPr>
        <p:spPr>
          <a:xfrm>
            <a:off x="812880" y="6173640"/>
            <a:ext cx="10566360" cy="0"/>
          </a:xfrm>
          <a:prstGeom prst="line">
            <a:avLst/>
          </a:prstGeom>
          <a:ln w="324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66863" sy="16686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"/>
          <p:cNvGrpSpPr/>
          <p:nvPr/>
        </p:nvGrpSpPr>
        <p:grpSpPr>
          <a:xfrm>
            <a:off x="812880" y="1566720"/>
            <a:ext cx="10610640" cy="109800"/>
            <a:chOff x="812880" y="1566720"/>
            <a:chExt cx="10610640" cy="109800"/>
          </a:xfrm>
        </p:grpSpPr>
        <p:sp>
          <p:nvSpPr>
            <p:cNvPr id="20" name=""/>
            <p:cNvSpPr/>
            <p:nvPr/>
          </p:nvSpPr>
          <p:spPr>
            <a:xfrm>
              <a:off x="812880" y="1566720"/>
              <a:ext cx="6207840" cy="109800"/>
            </a:xfrm>
            <a:custGeom>
              <a:avLst/>
              <a:gdLst/>
              <a:ahLst/>
              <a:rect l="0" t="0" r="r" b="b"/>
              <a:pathLst>
                <a:path w="17244" h="305">
                  <a:moveTo>
                    <a:pt x="0" y="0"/>
                  </a:moveTo>
                  <a:lnTo>
                    <a:pt x="17244" y="0"/>
                  </a:lnTo>
                  <a:lnTo>
                    <a:pt x="17244" y="305"/>
                  </a:lnTo>
                  <a:lnTo>
                    <a:pt x="0" y="3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812880" y="1566720"/>
              <a:ext cx="10610640" cy="0"/>
            </a:xfrm>
            <a:prstGeom prst="line">
              <a:avLst/>
            </a:prstGeom>
            <a:ln w="9360">
              <a:solidFill>
                <a:srgbClr val="cc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4680" rIns="94680" tIns="-49680" bIns="-4968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2" name=""/>
          <p:cNvSpPr/>
          <p:nvPr/>
        </p:nvSpPr>
        <p:spPr>
          <a:xfrm>
            <a:off x="812880" y="6173640"/>
            <a:ext cx="10566360" cy="0"/>
          </a:xfrm>
          <a:prstGeom prst="line">
            <a:avLst/>
          </a:prstGeom>
          <a:ln w="324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66863" sy="16686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 txBox="1"/>
          <p:nvPr/>
        </p:nvSpPr>
        <p:spPr>
          <a:xfrm>
            <a:off x="835560" y="2530440"/>
            <a:ext cx="10424160" cy="13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lnSpc>
                <a:spcPct val="90000"/>
              </a:lnSpc>
            </a:pPr>
            <a:r>
              <a:rPr b="1" lang="en-US" sz="2400" spc="-1" strike="noStrike">
                <a:solidFill>
                  <a:srgbClr val="6f2fa0"/>
                </a:solidFill>
                <a:latin typeface="Verdana-Bold"/>
                <a:ea typeface="Verdana-Bold"/>
              </a:rPr>
              <a:t>SWARM-WH – REVIEW 2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</a:pPr>
            <a:r>
              <a:rPr b="1" lang="en-US" sz="2400" spc="-1" strike="noStrike">
                <a:solidFill>
                  <a:srgbClr val="6f2fa0"/>
                </a:solidFill>
                <a:latin typeface="Verdana-Bold"/>
                <a:ea typeface="Verdana-Bold"/>
              </a:rPr>
              <a:t>Autonomous Kiva Fulfillment Coordinator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</a:pPr>
            <a:r>
              <a:rPr b="1" lang="en-US" sz="2400" spc="-1" strike="noStrike">
                <a:solidFill>
                  <a:srgbClr val="6f2fa0"/>
                </a:solidFill>
                <a:latin typeface="Verdana-Bold"/>
                <a:ea typeface="Verdana-Bold"/>
              </a:rPr>
              <a:t>Using Classical AI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1008720" y="5184000"/>
            <a:ext cx="3337560" cy="960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900" spc="-1" strike="noStrike">
                <a:solidFill>
                  <a:srgbClr val="ff0000"/>
                </a:solidFill>
                <a:latin typeface="Verdana-Bold"/>
                <a:ea typeface="Verdana-Bold"/>
              </a:rPr>
              <a:t>Supervisor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900" spc="-1" strike="noStrike">
                <a:solidFill>
                  <a:srgbClr val="ff0000"/>
                </a:solidFill>
                <a:latin typeface="Verdana-Bold"/>
                <a:ea typeface="Verdana-Bold"/>
              </a:rPr>
              <a:t>Dr. Bhuvana 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6256080" y="5184000"/>
            <a:ext cx="5366160" cy="149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wrap="none">
            <a:noAutofit/>
          </a:bodyPr>
          <a:p>
            <a:r>
              <a:rPr b="1" lang="en-US" sz="1900" spc="-1" strike="noStrike">
                <a:solidFill>
                  <a:srgbClr val="ff0000"/>
                </a:solidFill>
                <a:latin typeface="Verdana-Bold"/>
                <a:ea typeface="Verdana-Bold"/>
              </a:rPr>
              <a:t>Presented by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900" spc="-1" strike="noStrike">
                <a:solidFill>
                  <a:srgbClr val="ff0000"/>
                </a:solidFill>
                <a:latin typeface="Verdana-Bold"/>
                <a:ea typeface="Verdana-Bold"/>
              </a:rPr>
              <a:t>Naveen Prabhu S K             </a:t>
            </a:r>
            <a:r>
              <a:rPr b="1" lang="en-US" sz="1900" spc="-1" strike="noStrike">
                <a:solidFill>
                  <a:srgbClr val="ff0000"/>
                </a:solidFill>
                <a:latin typeface="Verdana-Bold"/>
                <a:ea typeface="Verdana-Bold"/>
              </a:rPr>
              <a:t>2419010</a:t>
            </a:r>
            <a:r>
              <a:rPr b="1" lang="en-US" sz="1900" spc="-1" strike="noStrike">
                <a:solidFill>
                  <a:srgbClr val="ff0000"/>
                </a:solidFill>
                <a:latin typeface="Verdana-Bold"/>
                <a:ea typeface="Verdana-Bold"/>
              </a:rPr>
              <a:t>69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900" spc="-1" strike="noStrike">
                <a:solidFill>
                  <a:srgbClr val="ff0000"/>
                </a:solidFill>
                <a:latin typeface="Verdana-Bold"/>
                <a:ea typeface="Verdana-Bold"/>
              </a:rPr>
              <a:t>Varun Adhitan S V               241901121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799920" y="980640"/>
            <a:ext cx="10424160" cy="72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algn="ctr">
              <a:lnSpc>
                <a:spcPct val="72000"/>
              </a:lnSpc>
            </a:pPr>
            <a:r>
              <a:rPr b="1" lang="en-US" sz="1800" spc="-1" strike="noStrike">
                <a:solidFill>
                  <a:srgbClr val="001f5f"/>
                </a:solidFill>
                <a:latin typeface="Verdana-Bold"/>
                <a:ea typeface="Verdana-Bold"/>
              </a:rPr>
              <a:t>Department of Computer Science and Engineering (Cyber Security)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" name="" descr=""/>
          <p:cNvPicPr/>
          <p:nvPr/>
        </p:nvPicPr>
        <p:blipFill>
          <a:blip r:embed="rId2"/>
          <a:stretch/>
        </p:blipFill>
        <p:spPr>
          <a:xfrm>
            <a:off x="0" y="0"/>
            <a:ext cx="2932920" cy="980640"/>
          </a:xfrm>
          <a:prstGeom prst="rect">
            <a:avLst/>
          </a:prstGeom>
          <a:ln w="0">
            <a:noFill/>
          </a:ln>
        </p:spPr>
      </p:pic>
      <p:sp>
        <p:nvSpPr>
          <p:cNvPr id="36" name=""/>
          <p:cNvSpPr txBox="1"/>
          <p:nvPr/>
        </p:nvSpPr>
        <p:spPr>
          <a:xfrm>
            <a:off x="1677240" y="1412640"/>
            <a:ext cx="10020960" cy="46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400" spc="-1" strike="noStrike">
                <a:solidFill>
                  <a:srgbClr val="c00000"/>
                </a:solidFill>
                <a:latin typeface="Verdana-Bold"/>
                <a:ea typeface="Verdana-Bold"/>
              </a:rPr>
              <a:t>CS23533– Foundations of Artificial Intelligence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4480560" y="1917000"/>
            <a:ext cx="2331720" cy="62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wrap="none">
            <a:noAutofit/>
          </a:bodyPr>
          <a:p>
            <a:r>
              <a:rPr b="1" lang="en-US" sz="1800" spc="-1" strike="noStrike">
                <a:solidFill>
                  <a:srgbClr val="001f5f"/>
                </a:solidFill>
                <a:latin typeface="Verdana-Bold"/>
                <a:ea typeface="Verdana-Bold"/>
              </a:rPr>
              <a:t>2026-2027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66863" sy="16686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 txBox="1"/>
          <p:nvPr/>
        </p:nvSpPr>
        <p:spPr>
          <a:xfrm>
            <a:off x="766440" y="304920"/>
            <a:ext cx="10667880" cy="12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algn="ctr"/>
            <a:r>
              <a:rPr b="1" lang="en-US" sz="3200" spc="-1" strike="noStrike">
                <a:solidFill>
                  <a:srgbClr val="ff0000"/>
                </a:solidFill>
                <a:latin typeface="Verdana-Bold"/>
                <a:ea typeface="Verdana-Bold"/>
              </a:rPr>
              <a:t>Problem Statement and Motivation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755640" y="1752480"/>
            <a:ext cx="10667880" cy="426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SWARM-WH addresses warehouse robot fleets where fixed routes and simple order assignment ignore battery, travel cost and other robots.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Robots can collide, deadlock at intersections, cut through inventory space or strand in an aisle with a flat battery.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The project shows students how search, constraint satisfaction, adversarial search and logic combine in one safety-critical problem.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Explicit algorithms, a live decision feed and a queryable knowledge base make every decision easy to inspect.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66863" sy="16686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 txBox="1"/>
          <p:nvPr/>
        </p:nvSpPr>
        <p:spPr>
          <a:xfrm>
            <a:off x="766440" y="304920"/>
            <a:ext cx="10667880" cy="12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algn="ctr"/>
            <a:r>
              <a:rPr b="1" lang="en-US" sz="3200" spc="-1" strike="noStrike">
                <a:solidFill>
                  <a:srgbClr val="ff0000"/>
                </a:solidFill>
                <a:latin typeface="Verdana-Bold"/>
                <a:ea typeface="Verdana-Bold"/>
              </a:rPr>
              <a:t>Objectives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755640" y="1752480"/>
            <a:ext cx="10667880" cy="426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Model the Kiva pick, deliver and return workflow as a multi-agent planning problem.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Allocate orders with CSP and plan routes with A* and Space-Time Cooperative A*.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Resolve conflicts with Minimax and Alpha-Beta pruning, and keep robots out of inventory space unless picking.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Trigger charging with a first-order-logic rule when battery reaches the energy needed to reach a charger.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Compare nodes expanded on the same scenarios and explain every decision on a live dashboard.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66863" sy="16686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 txBox="1"/>
          <p:nvPr/>
        </p:nvSpPr>
        <p:spPr>
          <a:xfrm>
            <a:off x="766440" y="304920"/>
            <a:ext cx="10667880" cy="12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algn="ctr"/>
            <a:r>
              <a:rPr b="1" lang="en-US" sz="3200" spc="-1" strike="noStrike">
                <a:solidFill>
                  <a:srgbClr val="ff0000"/>
                </a:solidFill>
                <a:latin typeface="Verdana-Bold"/>
                <a:ea typeface="Verdana-Bold"/>
              </a:rPr>
              <a:t>Project Progress Since Review 1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755640" y="1752480"/>
            <a:ext cx="10667880" cy="426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8333" lnSpcReduction="10000"/>
          </a:bodyPr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Review 1 baseline (09 September 2026): literature survey, problem identification, methodology, core implementation (all AI modules, engine and dashboard) and 12 passing tests.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Since Review 1: re-ran the 12-test suite and the 8-order wave on the current code to confirm the results.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Documented the design with a Level-0 DFD, development and runtime workflow diagrams and module-level notes.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Added measured comparisons: A*, UCS and BFS nodes expanded, and Alpha-Beta versus plain Minimax (211 vs 765 nodes).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Remaining: larger-fleet benchmarks, baseline comparison, screenshots and final documentation.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66863" sy="16686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766440" y="304920"/>
            <a:ext cx="10667880" cy="533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 fontScale="96666"/>
          </a:bodyPr>
          <a:p>
            <a:pPr algn="ctr"/>
            <a:r>
              <a:rPr b="1" lang="en-US" sz="3200" spc="-1" strike="noStrike">
                <a:solidFill>
                  <a:srgbClr val="ff0000"/>
                </a:solidFill>
                <a:latin typeface="Verdana-Bold"/>
                <a:ea typeface="Verdana-Bold"/>
              </a:rPr>
              <a:t>Literature Survey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6" name=""/>
          <p:cNvGraphicFramePr/>
          <p:nvPr/>
        </p:nvGraphicFramePr>
        <p:xfrm>
          <a:off x="623520" y="1752480"/>
          <a:ext cx="11089080" cy="4267080"/>
        </p:xfrm>
        <a:graphic>
          <a:graphicData uri="http://schemas.openxmlformats.org/drawingml/2006/table">
            <a:tbl>
              <a:tblPr/>
              <a:tblGrid>
                <a:gridCol w="571680"/>
                <a:gridCol w="1905120"/>
                <a:gridCol w="3143160"/>
                <a:gridCol w="2428920"/>
                <a:gridCol w="3040560"/>
              </a:tblGrid>
              <a:tr h="66672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No.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2F5DA8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Author(s) &amp; Year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2F5DA8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Paper Title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2F5DA8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Methodology / Algorithm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2F5DA8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Limitations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2F5DA8"/>
                    </a:solidFill>
                  </a:tcPr>
                </a:tc>
              </a:tr>
              <a:tr h="1200240">
                <a:tc>
                  <a:txBody>
                    <a:bodyPr lIns="34920" rIns="34920" tIns="34920" bIns="34920" anchor="ctr" anchorCtr="1" wrap="square">
                      <a:noAutofit/>
                    </a:bodyPr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lIns="34920" rIns="34920" tIns="34920" bIns="34920" anchor="ctr" anchorCtr="1" wrap="square">
                      <a:noAutofit/>
                    </a:bodyPr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Russell &amp; Norvig (2021)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lIns="34920" rIns="34920" tIns="34920" bIns="34920" anchor="ctr" anchorCtr="1" wrap="square">
                      <a:noAutofit/>
                    </a:bodyPr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Artificial Intelligence: A Modern Approach (4th ed.)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lIns="34920" rIns="34920" tIns="34920" bIns="34920" anchor="ctr" anchorCtr="1" wrap="square">
                      <a:noAutofit/>
                    </a:bodyPr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A*, CSP (AC-3, backtracking), Minimax with Alpha-Beta, logical agents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lIns="34920" rIns="34920" tIns="34920" bIns="34920" anchor="ctr" anchorCtr="1" wrap="square">
                      <a:noAutofit/>
                    </a:bodyPr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Textbook single-agent and two-player forms. SWARM-WH adapts them to a robot fleet.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0f2f4"/>
                    </a:solidFill>
                  </a:tcPr>
                </a:tc>
              </a:tr>
              <a:tr h="120024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0e4e8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Hart, Nilsson &amp; Raphael (1968)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0e4e8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A Formal Basis for the Heuristic Determination of Minimum Cost Paths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0e4e8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A* search with an admissible heuristic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0e4e8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Plans for one agent. Other robots moving at the same time are not modeled.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0e4e8"/>
                    </a:solidFill>
                  </a:tcPr>
                </a:tc>
              </a:tr>
              <a:tr h="1200240">
                <a:tc>
                  <a:txBody>
                    <a:bodyPr lIns="34920" rIns="34920" tIns="34920" bIns="34920" anchor="ctr" anchorCtr="1" wrap="square">
                      <a:noAutofit/>
                    </a:bodyPr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lIns="34920" rIns="34920" tIns="34920" bIns="34920" anchor="ctr" anchorCtr="1" wrap="square">
                      <a:noAutofit/>
                    </a:bodyPr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Wurman, D’Andrea &amp; Mountz (2008)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lIns="34920" rIns="34920" tIns="34920" bIns="34920" anchor="ctr" anchorCtr="1" wrap="square">
                      <a:noAutofit/>
                    </a:bodyPr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Coordinating Hundreds of Cooperative, Autonomous Vehicles in Warehouses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lIns="34920" rIns="34920" tIns="34920" bIns="34920" anchor="ctr" anchorCtr="1" wrap="square">
                      <a:noAutofit/>
                    </a:bodyPr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Kiva system: coordinated task allocation and multi-robot path planning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lIns="34920" rIns="34920" tIns="34920" bIns="34920" anchor="ctr" anchorCtr="1" wrap="square">
                      <a:noAutofit/>
                    </a:bodyPr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Industrial deployment. Internal algorithms are not open for reproduction.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66863" sy="16686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766440" y="304920"/>
            <a:ext cx="10667880" cy="533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 fontScale="96666"/>
          </a:bodyPr>
          <a:p>
            <a:pPr algn="ctr"/>
            <a:r>
              <a:rPr b="1" lang="en-US" sz="3200" spc="-1" strike="noStrike">
                <a:solidFill>
                  <a:srgbClr val="ff0000"/>
                </a:solidFill>
                <a:latin typeface="Verdana-Bold"/>
                <a:ea typeface="Verdana-Bold"/>
              </a:rPr>
              <a:t>Literature Survey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9" name=""/>
          <p:cNvGraphicFramePr/>
          <p:nvPr/>
        </p:nvGraphicFramePr>
        <p:xfrm>
          <a:off x="983520" y="1746360"/>
          <a:ext cx="10748160" cy="4416840"/>
        </p:xfrm>
        <a:graphic>
          <a:graphicData uri="http://schemas.openxmlformats.org/drawingml/2006/table">
            <a:tbl>
              <a:tblPr/>
              <a:tblGrid>
                <a:gridCol w="571680"/>
                <a:gridCol w="1857240"/>
                <a:gridCol w="3000240"/>
                <a:gridCol w="2381400"/>
                <a:gridCol w="2937960"/>
              </a:tblGrid>
              <a:tr h="66672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No.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2F5DA8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Author(s) &amp; Year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2F5DA8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Paper Title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2F5DA8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Methodology / Algorithm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2F5DA8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Limitations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2F5DA8"/>
                    </a:solidFill>
                  </a:tcPr>
                </a:tc>
              </a:tr>
              <a:tr h="1249920">
                <a:tc>
                  <a:txBody>
                    <a:bodyPr lIns="34920" rIns="34920" tIns="34920" bIns="34920" anchor="ctr" anchorCtr="1" wrap="square">
                      <a:noAutofit/>
                    </a:bodyPr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4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lIns="34920" rIns="34920" tIns="34920" bIns="34920" anchor="ctr" anchorCtr="1" wrap="square">
                      <a:noAutofit/>
                    </a:bodyPr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Silver (2005)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lIns="34920" rIns="34920" tIns="34920" bIns="34920" anchor="ctr" anchorCtr="1" wrap="square">
                      <a:noAutofit/>
                    </a:bodyPr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Cooperative Pathfinding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lIns="34920" rIns="34920" tIns="34920" bIns="34920" anchor="ctr" anchorCtr="1" wrap="square">
                      <a:noAutofit/>
                    </a:bodyPr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Cooperative A* with a space-time reservation table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lIns="34920" rIns="34920" tIns="34920" bIns="34920" anchor="ctr" anchorCtr="1" wrap="square">
                      <a:noAutofit/>
                    </a:bodyPr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Result depends on planning order. Tight corridors need extra conflict handling.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0f2f4"/>
                    </a:solidFill>
                  </a:tcPr>
                </a:tc>
              </a:tr>
              <a:tr h="124992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5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0e4e8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Knuth &amp; Moore (1975)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0e4e8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An Analysis of Alpha-Beta Pruning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0e4e8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Minimax with Alpha-Beta pruning and move ordering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0e4e8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Savings depend on move ordering. SWARM-WH applies it to two-robot conflicts.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e0e4e8"/>
                    </a:solidFill>
                  </a:tcPr>
                </a:tc>
              </a:tr>
              <a:tr h="1250280">
                <a:tc>
                  <a:txBody>
                    <a:bodyPr lIns="34920" rIns="34920" tIns="34920" bIns="34920" anchor="ctr" anchorCtr="1" wrap="square">
                      <a:noAutofit/>
                    </a:bodyPr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</a:rPr>
                        <a:t>6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lIns="34920" rIns="34920" tIns="34920" bIns="34920" anchor="ctr" anchorCtr="1" wrap="square">
                      <a:noAutofit/>
                    </a:bodyPr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Mackworth (1977)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lIns="34920" rIns="34920" tIns="34920" bIns="34920" anchor="ctr" anchorCtr="1" wrap="square">
                      <a:noAutofit/>
                    </a:bodyPr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Consistency in Networks of Relations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lIns="34920" rIns="34920" tIns="34920" bIns="34920" anchor="ctr" anchorCtr="1" wrap="square">
                      <a:noAutofit/>
                    </a:bodyPr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AC-3 arc consistency for constraint satisfaction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 lIns="34920" rIns="34920" tIns="34920" bIns="34920" anchor="ctr" anchorCtr="1" wrap="square">
                      <a:noAutofit/>
                    </a:bodyPr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</a:rPr>
                        <a:t>Prunes domains only. Backtracking is still needed for a full assignment.</a:t>
                      </a:r>
                    </a:p>
                  </a:txBody>
                  <a:tcPr anchor="ctr" marL="73152" marR="73152" marT="36576" marB="36576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66863" sy="16686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 txBox="1"/>
          <p:nvPr/>
        </p:nvSpPr>
        <p:spPr>
          <a:xfrm>
            <a:off x="766440" y="304920"/>
            <a:ext cx="10667880" cy="12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algn="ctr"/>
            <a:r>
              <a:rPr b="1" lang="en-US" sz="3200" spc="-1" strike="noStrike">
                <a:solidFill>
                  <a:srgbClr val="ff0000"/>
                </a:solidFill>
                <a:latin typeface="Verdana-Bold"/>
                <a:ea typeface="Verdana-Bold"/>
              </a:rPr>
              <a:t>Research Gap and Project Response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815040" y="1811880"/>
            <a:ext cx="4933440" cy="109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93333"/>
          </a:bodyPr>
          <a:p>
            <a:pPr algn="ctr"/>
            <a:r>
              <a:rPr b="1" lang="en-US" sz="1800" spc="-1" strike="noStrike">
                <a:solidFill>
                  <a:srgbClr val="16355c"/>
                </a:solidFill>
                <a:latin typeface="Helvetica-Bold"/>
                <a:ea typeface="Helvetica-Bold"/>
              </a:rPr>
              <a:t>1. Literature findings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1" lang="en-US" sz="1800" spc="-1" strike="noStrike">
                <a:solidFill>
                  <a:srgbClr val="16355c"/>
                </a:solidFill>
                <a:latin typeface="Helvetica-Bold"/>
                <a:ea typeface="Helvetica-Bold"/>
              </a:rPr>
              <a:t>A* gives optimal routes; Cooperative A* avoids collisions; CSP and Alpha-Beta fit assignment.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2" name=""/>
          <p:cNvGrpSpPr/>
          <p:nvPr/>
        </p:nvGrpSpPr>
        <p:grpSpPr>
          <a:xfrm>
            <a:off x="6095880" y="1752480"/>
            <a:ext cx="5453280" cy="1216440"/>
            <a:chOff x="6095880" y="1752480"/>
            <a:chExt cx="5453280" cy="1216440"/>
          </a:xfrm>
        </p:grpSpPr>
        <p:sp>
          <p:nvSpPr>
            <p:cNvPr id="53" name=""/>
            <p:cNvSpPr/>
            <p:nvPr/>
          </p:nvSpPr>
          <p:spPr>
            <a:xfrm>
              <a:off x="6095880" y="1752480"/>
              <a:ext cx="5453280" cy="1216440"/>
            </a:xfrm>
            <a:custGeom>
              <a:avLst/>
              <a:gdLst/>
              <a:ahLst/>
              <a:rect l="0" t="0" r="r" b="b"/>
              <a:pathLst>
                <a:path w="15148" h="3379">
                  <a:moveTo>
                    <a:pt x="14585" y="0"/>
                  </a:moveTo>
                  <a:cubicBezTo>
                    <a:pt x="14960" y="0"/>
                    <a:pt x="15148" y="187"/>
                    <a:pt x="15148" y="562"/>
                  </a:cubicBezTo>
                  <a:lnTo>
                    <a:pt x="15148" y="2816"/>
                  </a:lnTo>
                  <a:cubicBezTo>
                    <a:pt x="15148" y="3191"/>
                    <a:pt x="14960" y="3379"/>
                    <a:pt x="14585" y="3379"/>
                  </a:cubicBezTo>
                  <a:lnTo>
                    <a:pt x="562" y="3379"/>
                  </a:lnTo>
                  <a:cubicBezTo>
                    <a:pt x="187" y="3379"/>
                    <a:pt x="0" y="3191"/>
                    <a:pt x="0" y="2816"/>
                  </a:cubicBezTo>
                  <a:lnTo>
                    <a:pt x="0" y="562"/>
                  </a:lnTo>
                  <a:cubicBezTo>
                    <a:pt x="0" y="187"/>
                    <a:pt x="187" y="0"/>
                    <a:pt x="562" y="0"/>
                  </a:cubicBezTo>
                  <a:lnTo>
                    <a:pt x="14585" y="0"/>
                  </a:lnTo>
                  <a:close/>
                </a:path>
              </a:pathLst>
            </a:custGeom>
            <a:solidFill>
              <a:srgbClr val="f7f9fc"/>
            </a:solidFill>
            <a:ln w="9360">
              <a:solidFill>
                <a:srgbClr val="cddaeb"/>
              </a:solidFill>
              <a:round/>
            </a:ln>
          </p:spPr>
          <p:txBody>
            <a:bodyPr lIns="94680" rIns="94680" tIns="49680" bIns="4968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" name=""/>
            <p:cNvSpPr txBox="1"/>
            <p:nvPr/>
          </p:nvSpPr>
          <p:spPr>
            <a:xfrm>
              <a:off x="6159960" y="1816560"/>
              <a:ext cx="5324760" cy="11516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1" lang="en-US" sz="1800" spc="-1" strike="noStrike">
                  <a:solidFill>
                    <a:srgbClr val="16355c"/>
                  </a:solidFill>
                  <a:latin typeface="Helvetica-Bold"/>
                  <a:ea typeface="Helvetica-Bold"/>
                </a:rPr>
                <a:t>2. Limitations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1" lang="en-US" sz="1800" spc="-1" strike="noStrike">
                  <a:solidFill>
                    <a:srgbClr val="16355c"/>
                  </a:solidFill>
                  <a:latin typeface="Helvetica-Bold"/>
                  <a:ea typeface="Helvetica-Bold"/>
                </a:rPr>
                <a:t>Techniques are studied alone; fleet systems are proprietary; charging rules are flat percentages.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" name=""/>
          <p:cNvGrpSpPr/>
          <p:nvPr/>
        </p:nvGrpSpPr>
        <p:grpSpPr>
          <a:xfrm>
            <a:off x="766440" y="3645000"/>
            <a:ext cx="5177520" cy="1584720"/>
            <a:chOff x="766440" y="3645000"/>
            <a:chExt cx="5177520" cy="1584720"/>
          </a:xfrm>
        </p:grpSpPr>
        <p:sp>
          <p:nvSpPr>
            <p:cNvPr id="56" name=""/>
            <p:cNvSpPr/>
            <p:nvPr/>
          </p:nvSpPr>
          <p:spPr>
            <a:xfrm>
              <a:off x="766440" y="3645000"/>
              <a:ext cx="5177520" cy="1584720"/>
            </a:xfrm>
            <a:custGeom>
              <a:avLst/>
              <a:gdLst/>
              <a:ahLst/>
              <a:rect l="0" t="0" r="r" b="b"/>
              <a:pathLst>
                <a:path w="14382" h="4402">
                  <a:moveTo>
                    <a:pt x="13649" y="0"/>
                  </a:moveTo>
                  <a:cubicBezTo>
                    <a:pt x="14138" y="0"/>
                    <a:pt x="14382" y="244"/>
                    <a:pt x="14382" y="733"/>
                  </a:cubicBezTo>
                  <a:lnTo>
                    <a:pt x="14382" y="3669"/>
                  </a:lnTo>
                  <a:cubicBezTo>
                    <a:pt x="14382" y="4158"/>
                    <a:pt x="14138" y="4402"/>
                    <a:pt x="13649" y="4402"/>
                  </a:cubicBezTo>
                  <a:lnTo>
                    <a:pt x="733" y="4402"/>
                  </a:lnTo>
                  <a:cubicBezTo>
                    <a:pt x="244" y="4402"/>
                    <a:pt x="0" y="4158"/>
                    <a:pt x="0" y="3669"/>
                  </a:cubicBezTo>
                  <a:lnTo>
                    <a:pt x="0" y="733"/>
                  </a:lnTo>
                  <a:cubicBezTo>
                    <a:pt x="0" y="244"/>
                    <a:pt x="244" y="0"/>
                    <a:pt x="733" y="0"/>
                  </a:cubicBezTo>
                  <a:lnTo>
                    <a:pt x="13649" y="0"/>
                  </a:lnTo>
                  <a:close/>
                </a:path>
              </a:pathLst>
            </a:custGeom>
            <a:solidFill>
              <a:srgbClr val="ebf2fa"/>
            </a:solidFill>
            <a:ln w="9360">
              <a:solidFill>
                <a:srgbClr val="cddaeb"/>
              </a:solidFill>
              <a:round/>
            </a:ln>
          </p:spPr>
          <p:txBody>
            <a:bodyPr lIns="94680" rIns="94680" tIns="49680" bIns="4968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" name=""/>
            <p:cNvSpPr txBox="1"/>
            <p:nvPr/>
          </p:nvSpPr>
          <p:spPr>
            <a:xfrm>
              <a:off x="848160" y="3727080"/>
              <a:ext cx="5013360" cy="14198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1" lang="en-US" sz="1800" spc="-1" strike="noStrike">
                  <a:solidFill>
                    <a:srgbClr val="16355c"/>
                  </a:solidFill>
                  <a:latin typeface="Helvetica-Bold"/>
                  <a:ea typeface="Helvetica-Bold"/>
                </a:rPr>
                <a:t>3. Refined research gap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1" lang="en-US" sz="1800" spc="-1" strike="noStrike">
                  <a:solidFill>
                    <a:srgbClr val="16355c"/>
                  </a:solidFill>
                  <a:latin typeface="Helvetica-Bold"/>
                  <a:ea typeface="Helvetica-Bold"/>
                </a:rPr>
                <a:t>One open prototype should combine CSP, Cooperative A*, Alpha-Beta and logic.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8" name=""/>
          <p:cNvGrpSpPr/>
          <p:nvPr/>
        </p:nvGrpSpPr>
        <p:grpSpPr>
          <a:xfrm>
            <a:off x="6199560" y="3794760"/>
            <a:ext cx="5349600" cy="1434600"/>
            <a:chOff x="6199560" y="3794760"/>
            <a:chExt cx="5349600" cy="1434600"/>
          </a:xfrm>
        </p:grpSpPr>
        <p:sp>
          <p:nvSpPr>
            <p:cNvPr id="59" name=""/>
            <p:cNvSpPr/>
            <p:nvPr/>
          </p:nvSpPr>
          <p:spPr>
            <a:xfrm>
              <a:off x="6199560" y="3794760"/>
              <a:ext cx="5349600" cy="1434600"/>
            </a:xfrm>
            <a:custGeom>
              <a:avLst/>
              <a:gdLst/>
              <a:ahLst/>
              <a:rect l="0" t="0" r="r" b="b"/>
              <a:pathLst>
                <a:path w="14860" h="3985">
                  <a:moveTo>
                    <a:pt x="14195" y="0"/>
                  </a:moveTo>
                  <a:cubicBezTo>
                    <a:pt x="14638" y="0"/>
                    <a:pt x="14860" y="221"/>
                    <a:pt x="14860" y="664"/>
                  </a:cubicBezTo>
                  <a:lnTo>
                    <a:pt x="14860" y="3321"/>
                  </a:lnTo>
                  <a:cubicBezTo>
                    <a:pt x="14860" y="3764"/>
                    <a:pt x="14638" y="3985"/>
                    <a:pt x="14195" y="3985"/>
                  </a:cubicBezTo>
                  <a:lnTo>
                    <a:pt x="664" y="3985"/>
                  </a:lnTo>
                  <a:cubicBezTo>
                    <a:pt x="221" y="3985"/>
                    <a:pt x="0" y="3764"/>
                    <a:pt x="0" y="3321"/>
                  </a:cubicBezTo>
                  <a:lnTo>
                    <a:pt x="0" y="664"/>
                  </a:lnTo>
                  <a:cubicBezTo>
                    <a:pt x="0" y="221"/>
                    <a:pt x="221" y="0"/>
                    <a:pt x="664" y="0"/>
                  </a:cubicBezTo>
                  <a:lnTo>
                    <a:pt x="14195" y="0"/>
                  </a:lnTo>
                  <a:close/>
                </a:path>
              </a:pathLst>
            </a:custGeom>
            <a:solidFill>
              <a:srgbClr val="f7f9fc"/>
            </a:solidFill>
            <a:ln w="9360">
              <a:solidFill>
                <a:srgbClr val="cddaeb"/>
              </a:solidFill>
              <a:round/>
            </a:ln>
          </p:spPr>
          <p:txBody>
            <a:bodyPr lIns="94680" rIns="94680" tIns="49680" bIns="4968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" name=""/>
            <p:cNvSpPr txBox="1"/>
            <p:nvPr/>
          </p:nvSpPr>
          <p:spPr>
            <a:xfrm>
              <a:off x="6274440" y="3869640"/>
              <a:ext cx="5199480" cy="12848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1" lang="en-US" sz="1800" spc="-1" strike="noStrike">
                  <a:solidFill>
                    <a:srgbClr val="16355c"/>
                  </a:solidFill>
                  <a:latin typeface="Helvetica-Bold"/>
                  <a:ea typeface="Helvetica-Bold"/>
                </a:rPr>
                <a:t>4. Progress toward the solution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1" lang="en-US" sz="1800" spc="-1" strike="noStrike">
                  <a:solidFill>
                    <a:srgbClr val="16355c"/>
                  </a:solidFill>
                  <a:latin typeface="Helvetica-Bold"/>
                  <a:ea typeface="Helvetica-Bold"/>
                </a:rPr>
                <a:t>All modules are implemented. 12 tests pass; simulation shows 0 collisions and 0 zone violations.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66863" sy="16686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 txBox="1"/>
          <p:nvPr/>
        </p:nvSpPr>
        <p:spPr>
          <a:xfrm>
            <a:off x="766440" y="304920"/>
            <a:ext cx="10667880" cy="12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algn="ctr"/>
            <a:r>
              <a:rPr b="1" lang="en-US" sz="3200" spc="-1" strike="noStrike">
                <a:solidFill>
                  <a:srgbClr val="ff0000"/>
                </a:solidFill>
                <a:latin typeface="Verdana-Bold"/>
                <a:ea typeface="Verdana-Bold"/>
              </a:rPr>
              <a:t>System Architecture / Proposed System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B379249-BABF-431A-8FE3-C06C4D68C04F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8191500" y="3405188"/>
            <a:ext cx="3333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C351BFC-CDF4-49A4-9B4B-C0CC9A3F1E0B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429250" y="3405188"/>
            <a:ext cx="3333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9F5AD54-25AD-417A-BF5D-EF64094124D8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2809875" y="3405188"/>
            <a:ext cx="3333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9334106-8747-4BD5-BB61-7052C5C1A621}"/>
              </a:ext>
            </a:extLst>
          </p:cNvPr>
          <p:cNvSpPr>
            <a:spLocks noGrp="1"/>
          </p:cNvSpPr>
          <p:nvPr/>
        </p:nvSpPr>
        <p:spPr>
          <a:xfrm>
            <a:off x="809625" y="1809750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900" b="1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Proposed architecture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96D0D6-F2CD-4E17-A1DC-97167BA0C263}"/>
              </a:ext>
            </a:extLst>
          </p:cNvPr>
          <p:cNvSpPr>
            <a:spLocks noGrp="1"/>
          </p:cNvSpPr>
          <p:nvPr/>
        </p:nvSpPr>
        <p:spPr>
          <a:xfrm>
            <a:off x="809625" y="2714625"/>
            <a:ext cx="2000250" cy="1381125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Web dashboard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Dispatch form,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live canvas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307BFE-475D-4920-BE99-76F24345070C}"/>
              </a:ext>
            </a:extLst>
          </p:cNvPr>
          <p:cNvSpPr>
            <a:spLocks noGrp="1"/>
          </p:cNvSpPr>
          <p:nvPr/>
        </p:nvSpPr>
        <p:spPr>
          <a:xfrm>
            <a:off x="3143250" y="2714625"/>
            <a:ext cx="2286000" cy="1381125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FastAPI + engine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WebSocket, tick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loop, orders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3454F4-A713-4788-A27C-6E2FE779B724}"/>
              </a:ext>
            </a:extLst>
          </p:cNvPr>
          <p:cNvSpPr>
            <a:spLocks noGrp="1"/>
          </p:cNvSpPr>
          <p:nvPr/>
        </p:nvSpPr>
        <p:spPr>
          <a:xfrm>
            <a:off x="5762625" y="2714625"/>
            <a:ext cx="2428875" cy="1381125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AI modules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CSP, A*, Alpha-Beta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FOL, Annealing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66174C-430D-4B20-A583-DE2C1A6231BA}"/>
              </a:ext>
            </a:extLst>
          </p:cNvPr>
          <p:cNvSpPr>
            <a:spLocks noGrp="1"/>
          </p:cNvSpPr>
          <p:nvPr/>
        </p:nvSpPr>
        <p:spPr>
          <a:xfrm>
            <a:off x="8524875" y="2714625"/>
            <a:ext cx="2762250" cy="1381125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Output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Robot moves, charts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decision feed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0E0F25-1822-4405-8D06-D09C3355C952}"/>
              </a:ext>
            </a:extLst>
          </p:cNvPr>
          <p:cNvSpPr>
            <a:spLocks noGrp="1"/>
          </p:cNvSpPr>
          <p:nvPr/>
        </p:nvSpPr>
        <p:spPr>
          <a:xfrm>
            <a:off x="809625" y="4524375"/>
            <a:ext cx="105727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21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1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Reservations, the Alpha-Beta controller and the safety knowledge base link every robot move to an explainable decision.</a:t>
            </a:r>
          </a:p>
          <a:p>
            <a:pPr algn="l">
              <a:defRPr sz="21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1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The warehouse model holds pods, stations, chargers and obstacles. The event log feeds the monitor page.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66863" sy="16686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 txBox="1"/>
          <p:nvPr/>
        </p:nvSpPr>
        <p:spPr>
          <a:xfrm>
            <a:off x="766440" y="304920"/>
            <a:ext cx="10667880" cy="12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algn="ctr"/>
            <a:r>
              <a:rPr b="1" lang="en-US" sz="3200" spc="-1" strike="noStrike">
                <a:solidFill>
                  <a:srgbClr val="ff0000"/>
                </a:solidFill>
                <a:latin typeface="Verdana-Bold"/>
                <a:ea typeface="Verdana-Bold"/>
              </a:rPr>
              <a:t>DFD Diagram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AFEFD69-EA9A-48B9-B159-85015D84A078}"/>
              </a:ext>
            </a:extLst>
          </p:cNvPr>
          <p:cNvCxnSpPr>
            <a:stCxn id="9" idx="4"/>
            <a:endCxn id="11" idx="0"/>
          </p:cNvCxnSpPr>
          <p:nvPr/>
        </p:nvCxnSpPr>
        <p:spPr>
          <a:xfrm flipH="1">
            <a:off x="6262688" y="4595813"/>
            <a:ext cx="23813" cy="500062"/>
          </a:xfrm>
          <a:prstGeom prst="straightConnector1">
            <a:avLst/>
          </a:prstGeom>
          <a:ln w="19050">
            <a:solidFill>
              <a:srgbClr val="203864"/>
            </a:solidFill>
            <a:headEnd type="triangle" w="sm" len="sm"/>
            <a:tailEnd type="triangle" w="sm" len="sm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1FE6F52-8948-4ED0-8A42-CFE3A79D5CF9}"/>
              </a:ext>
            </a:extLst>
          </p:cNvPr>
          <p:cNvCxnSpPr>
            <a:stCxn id="10" idx="1"/>
            <a:endCxn id="9" idx="6"/>
          </p:cNvCxnSpPr>
          <p:nvPr/>
        </p:nvCxnSpPr>
        <p:spPr>
          <a:xfrm flipH="1">
            <a:off x="7667625" y="3714750"/>
            <a:ext cx="214312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504FFF1-8B9E-4123-B540-70025CC6895B}"/>
              </a:ext>
            </a:extLst>
          </p:cNvPr>
          <p:cNvCxnSpPr>
            <a:stCxn id="9" idx="2"/>
            <a:endCxn id="8" idx="3"/>
          </p:cNvCxnSpPr>
          <p:nvPr/>
        </p:nvCxnSpPr>
        <p:spPr>
          <a:xfrm flipH="1" flipV="1">
            <a:off x="2428875" y="3714750"/>
            <a:ext cx="2476500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292488F-35BF-4DB1-B5B5-69079C9634C0}"/>
              </a:ext>
            </a:extLst>
          </p:cNvPr>
          <p:cNvCxnSpPr>
            <a:stCxn id="8" idx="3"/>
            <a:endCxn id="9" idx="2"/>
          </p:cNvCxnSpPr>
          <p:nvPr/>
        </p:nvCxnSpPr>
        <p:spPr>
          <a:xfrm>
            <a:off x="2428875" y="3714750"/>
            <a:ext cx="2476500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0712DD4-8DED-46C7-A358-556FF9C8F694}"/>
              </a:ext>
            </a:extLst>
          </p:cNvPr>
          <p:cNvSpPr>
            <a:spLocks noGrp="1"/>
          </p:cNvSpPr>
          <p:nvPr/>
        </p:nvSpPr>
        <p:spPr>
          <a:xfrm>
            <a:off x="809625" y="1809750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900" b="1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Level 0 context diagram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F7F381-3DC8-47E1-9FC9-4BC1F0C64986}"/>
              </a:ext>
            </a:extLst>
          </p:cNvPr>
          <p:cNvSpPr>
            <a:spLocks noGrp="1"/>
          </p:cNvSpPr>
          <p:nvPr/>
        </p:nvSpPr>
        <p:spPr>
          <a:xfrm>
            <a:off x="809625" y="3286125"/>
            <a:ext cx="1619250" cy="85725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Operator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FF55522-1660-4C1D-95DB-0A999936672C}"/>
              </a:ext>
            </a:extLst>
          </p:cNvPr>
          <p:cNvSpPr>
            <a:spLocks noGrp="1"/>
          </p:cNvSpPr>
          <p:nvPr/>
        </p:nvSpPr>
        <p:spPr>
          <a:xfrm>
            <a:off x="4905375" y="2833688"/>
            <a:ext cx="2762250" cy="1762125"/>
          </a:xfrm>
          <a:prstGeom prst="ellipse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0. SWARM-WH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Planning and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coordination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59CE11-FD96-4D7A-BBE4-E6EE00C1244E}"/>
              </a:ext>
            </a:extLst>
          </p:cNvPr>
          <p:cNvSpPr>
            <a:spLocks noGrp="1"/>
          </p:cNvSpPr>
          <p:nvPr/>
        </p:nvSpPr>
        <p:spPr>
          <a:xfrm>
            <a:off x="9810750" y="3286125"/>
            <a:ext cx="1714500" cy="85725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Robot fleet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6B15A8-DA2C-4638-B929-3C9DB29EA3A5}"/>
              </a:ext>
            </a:extLst>
          </p:cNvPr>
          <p:cNvSpPr>
            <a:spLocks noGrp="1"/>
          </p:cNvSpPr>
          <p:nvPr/>
        </p:nvSpPr>
        <p:spPr>
          <a:xfrm>
            <a:off x="3810000" y="5095875"/>
            <a:ext cx="4905375" cy="7620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D1 Warehouse state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Pods, robots, reservations, rules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9DD5C2-D321-4EE9-A88D-D55C60A8344B}"/>
              </a:ext>
            </a:extLst>
          </p:cNvPr>
          <p:cNvSpPr>
            <a:spLocks noGrp="1"/>
          </p:cNvSpPr>
          <p:nvPr/>
        </p:nvSpPr>
        <p:spPr>
          <a:xfrm>
            <a:off x="2571750" y="2857500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6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Orders / map events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623916-25CC-47B4-A416-D565FAE5D7AD}"/>
              </a:ext>
            </a:extLst>
          </p:cNvPr>
          <p:cNvSpPr>
            <a:spLocks noGrp="1"/>
          </p:cNvSpPr>
          <p:nvPr/>
        </p:nvSpPr>
        <p:spPr>
          <a:xfrm>
            <a:off x="2524125" y="41719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6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Routes / status / feed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82FDD8-B487-4062-A468-15EE1A3E2E71}"/>
              </a:ext>
            </a:extLst>
          </p:cNvPr>
          <p:cNvSpPr>
            <a:spLocks noGrp="1"/>
          </p:cNvSpPr>
          <p:nvPr/>
        </p:nvSpPr>
        <p:spPr>
          <a:xfrm>
            <a:off x="7905750" y="2857500"/>
            <a:ext cx="185737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6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Robot state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3F4104-F1D5-4708-BA32-9DA9CA68E643}"/>
              </a:ext>
            </a:extLst>
          </p:cNvPr>
          <p:cNvSpPr>
            <a:spLocks noGrp="1"/>
          </p:cNvSpPr>
          <p:nvPr/>
        </p:nvSpPr>
        <p:spPr>
          <a:xfrm>
            <a:off x="6429375" y="4572000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6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World state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66863" sy="16686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 txBox="1"/>
          <p:nvPr/>
        </p:nvSpPr>
        <p:spPr>
          <a:xfrm>
            <a:off x="766440" y="304920"/>
            <a:ext cx="10667880" cy="12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algn="ctr"/>
            <a:r>
              <a:rPr b="1" lang="en-US" sz="3200" spc="-1" strike="noStrike">
                <a:solidFill>
                  <a:srgbClr val="ff0000"/>
                </a:solidFill>
                <a:latin typeface="Verdana-Bold"/>
                <a:ea typeface="Verdana-Bold"/>
              </a:rPr>
              <a:t>Methodology / Workflow Diagram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D1C474F-BC89-44E7-8B5E-6756483E6B5C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8610600" y="4714875"/>
            <a:ext cx="2571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32A511E-6DD4-40E7-A70E-00BB924ED37A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5924550" y="4714875"/>
            <a:ext cx="2571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224317F-727E-45F4-9333-EB0E7F97D118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3238500" y="4714875"/>
            <a:ext cx="2571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FD6395-1C9E-4D2B-992B-A8C4BA33698F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8610600" y="2762250"/>
            <a:ext cx="2571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801DDE5-7577-4B3B-A95E-0E3EB2B87EE2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924550" y="2762250"/>
            <a:ext cx="2571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EA9134-FE36-4D06-935D-9AF0B749EC49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3238500" y="2762250"/>
            <a:ext cx="2571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C8F510E-A89A-411A-8314-B4DEC5443E4E}"/>
              </a:ext>
            </a:extLst>
          </p:cNvPr>
          <p:cNvSpPr>
            <a:spLocks noGrp="1"/>
          </p:cNvSpPr>
          <p:nvPr/>
        </p:nvSpPr>
        <p:spPr>
          <a:xfrm>
            <a:off x="809625" y="1809750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900" b="1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Development workflow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A10999-66A9-4B9B-BDAD-A9D32A405054}"/>
              </a:ext>
            </a:extLst>
          </p:cNvPr>
          <p:cNvSpPr>
            <a:spLocks noGrp="1"/>
          </p:cNvSpPr>
          <p:nvPr/>
        </p:nvSpPr>
        <p:spPr>
          <a:xfrm>
            <a:off x="809625" y="2286000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Model warehouse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define PEAS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42BCD2-E9EC-47B9-820A-9B701464AD86}"/>
              </a:ext>
            </a:extLst>
          </p:cNvPr>
          <p:cNvSpPr>
            <a:spLocks noGrp="1"/>
          </p:cNvSpPr>
          <p:nvPr/>
        </p:nvSpPr>
        <p:spPr>
          <a:xfrm>
            <a:off x="3495675" y="2286000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Implement search,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CSP and logic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42AA26-3633-4185-BE55-711A5AF96F97}"/>
              </a:ext>
            </a:extLst>
          </p:cNvPr>
          <p:cNvSpPr>
            <a:spLocks noGrp="1"/>
          </p:cNvSpPr>
          <p:nvPr/>
        </p:nvSpPr>
        <p:spPr>
          <a:xfrm>
            <a:off x="6181725" y="2286000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Build engine and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web dashboard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FA0061-8ABC-40BE-91A3-5D2A405F3E08}"/>
              </a:ext>
            </a:extLst>
          </p:cNvPr>
          <p:cNvSpPr>
            <a:spLocks noGrp="1"/>
          </p:cNvSpPr>
          <p:nvPr/>
        </p:nvSpPr>
        <p:spPr>
          <a:xfrm>
            <a:off x="8867775" y="2286000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Test scenarios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benchmark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B72A60-6A7B-4B0D-B760-0D29E7712FC8}"/>
              </a:ext>
            </a:extLst>
          </p:cNvPr>
          <p:cNvSpPr>
            <a:spLocks noGrp="1"/>
          </p:cNvSpPr>
          <p:nvPr/>
        </p:nvSpPr>
        <p:spPr>
          <a:xfrm>
            <a:off x="809625" y="3714750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900" b="1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Runtime workflow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5522D5-969F-4EFE-81B0-D62BC7FD2E09}"/>
              </a:ext>
            </a:extLst>
          </p:cNvPr>
          <p:cNvSpPr>
            <a:spLocks noGrp="1"/>
          </p:cNvSpPr>
          <p:nvPr/>
        </p:nvSpPr>
        <p:spPr>
          <a:xfrm>
            <a:off x="809625" y="4238625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Dispatch order and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allocate robot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431173-AD88-4BFC-AC66-98070BC398EE}"/>
              </a:ext>
            </a:extLst>
          </p:cNvPr>
          <p:cNvSpPr>
            <a:spLocks noGrp="1"/>
          </p:cNvSpPr>
          <p:nvPr/>
        </p:nvSpPr>
        <p:spPr>
          <a:xfrm>
            <a:off x="3495675" y="4238625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Plan routes with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A* + reservations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77EC7F-2C16-4659-A516-210B7AF6DB0A}"/>
              </a:ext>
            </a:extLst>
          </p:cNvPr>
          <p:cNvSpPr>
            <a:spLocks noGrp="1"/>
          </p:cNvSpPr>
          <p:nvPr/>
        </p:nvSpPr>
        <p:spPr>
          <a:xfrm>
            <a:off x="6181725" y="4238625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Resolve conflicts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check battery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107453-12EC-4396-8E53-1BA99FDCD9FA}"/>
              </a:ext>
            </a:extLst>
          </p:cNvPr>
          <p:cNvSpPr>
            <a:spLocks noGrp="1"/>
          </p:cNvSpPr>
          <p:nvPr/>
        </p:nvSpPr>
        <p:spPr>
          <a:xfrm>
            <a:off x="8867775" y="4238625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Return pod and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explain decisions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4D4884-D8A9-4F51-B790-EE928443B58B}"/>
              </a:ext>
            </a:extLst>
          </p:cNvPr>
          <p:cNvSpPr>
            <a:spLocks noGrp="1"/>
          </p:cNvSpPr>
          <p:nvPr/>
        </p:nvSpPr>
        <p:spPr>
          <a:xfrm>
            <a:off x="809625" y="5495925"/>
            <a:ext cx="10572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The FOL safety agent pre-empts a task and sends the robot to charge when battery reaches the threshold.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66863" sy="16686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"/>
          <p:cNvSpPr txBox="1"/>
          <p:nvPr/>
        </p:nvSpPr>
        <p:spPr>
          <a:xfrm>
            <a:off x="766440" y="304920"/>
            <a:ext cx="10667880" cy="12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algn="ctr"/>
            <a:r>
              <a:rPr b="1" lang="en-US" sz="3200" spc="-1" strike="noStrike">
                <a:solidFill>
                  <a:srgbClr val="ff0000"/>
                </a:solidFill>
                <a:latin typeface="Verdana-Bold"/>
                <a:ea typeface="Verdana-Bold"/>
              </a:rPr>
              <a:t>Tools and Technologies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755640" y="1752480"/>
            <a:ext cx="10667880" cy="426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Python 3.12 implements the AI algorithms (A*, CSP, Alpha-Beta, FOL, annealing) from scratch.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FastAPI, Uvicorn and WebSockets run the simulation and stream live state to the browser.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HTML5 Canvas, Tailwind CSS and Chart.js draw the live grid, telemetry and charts.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Pytest tests the algorithms and the engine; VS Code supports development.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Standard laptop: 4 GB RAM minimum, no GPU. No database or machine learning is used.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66863" sy="16686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 txBox="1"/>
          <p:nvPr/>
        </p:nvSpPr>
        <p:spPr>
          <a:xfrm>
            <a:off x="766440" y="304920"/>
            <a:ext cx="10667880" cy="12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algn="ctr"/>
            <a:r>
              <a:rPr b="1" lang="en-US" sz="3200" spc="-1" strike="noStrike">
                <a:solidFill>
                  <a:srgbClr val="ff0000"/>
                </a:solidFill>
                <a:latin typeface="Verdana-Bold"/>
                <a:ea typeface="Verdana-Bold"/>
              </a:rPr>
              <a:t>List of Modules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755640" y="1752480"/>
            <a:ext cx="10667880" cy="426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Warehouse Model and Environment: Implemented and tested.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Search and Path Planning: Implemented and tested.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CSP Task Allocator: Implemented and tested.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Alpha-Beta Traffic Controller: Implemented and tested.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FOL Safety Agent: Implemented and tested.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Slotting Optimizer: Implemented and tested.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Simulation Engine and API: Implemented and tested.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Web Dashboard: Implemented; screenshots pending.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66863" sy="16686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 txBox="1"/>
          <p:nvPr/>
        </p:nvSpPr>
        <p:spPr>
          <a:xfrm>
            <a:off x="766440" y="304920"/>
            <a:ext cx="10667880" cy="12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r>
              <a:rPr b="1" lang="en-US" sz="3200" spc="-1" strike="noStrike">
                <a:solidFill>
                  <a:srgbClr val="ff0000"/>
                </a:solidFill>
                <a:latin typeface="Verdana-Bold"/>
                <a:ea typeface="Verdana-Bold"/>
              </a:rPr>
              <a:t>Module Implementation – Part 1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755640" y="1752480"/>
            <a:ext cx="10667880" cy="426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Module focus: Warehouse Model and Path Planning (warehouse.py, pathfinding.py).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Input: 30×20 grid, 32 pods, 4 stations, 5 chargers and obstacles. Output: routes and reservations.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A* uses Manhattan distance with turn and load penalties; UCS and BFS serve as baselines.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Space-Time Cooperative A* books (x, y, t) cells and blocks vertex and swap conflicts.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Inventory-zone rule: robots enter storage only on the pod or slot they work; all other trips use aisles.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66863" sy="16686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 txBox="1"/>
          <p:nvPr/>
        </p:nvSpPr>
        <p:spPr>
          <a:xfrm>
            <a:off x="766440" y="304920"/>
            <a:ext cx="10667880" cy="12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r>
              <a:rPr b="1" lang="en-US" sz="3200" spc="-1" strike="noStrike">
                <a:solidFill>
                  <a:srgbClr val="ff0000"/>
                </a:solidFill>
                <a:latin typeface="Verdana-Bold"/>
                <a:ea typeface="Verdana-Bold"/>
              </a:rPr>
              <a:t>Module Implementation – Part 2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755640" y="1752480"/>
            <a:ext cx="10667880" cy="426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Module focus: CSP Allocator, Alpha-Beta Traffic Controller and FOL Safety Agent.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CSP: AC-3 prunes domains, then backtracking with MRV and forward checking picks the cheapest robot per order.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Alpha-Beta: Minimax over MOVE, WAIT and YIELD_SIDE resolves head-on conflicts without collision.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FOL agent: forward chaining fires CriticalEnergyThreshold when battery ≤ E_required; backward chaining answers KB queries with proof trees.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Output feeds the dispatch queue, the decision feed and the monitor page.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66863" sy="16686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 txBox="1"/>
          <p:nvPr/>
        </p:nvSpPr>
        <p:spPr>
          <a:xfrm>
            <a:off x="766440" y="304920"/>
            <a:ext cx="10667880" cy="12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r>
              <a:rPr b="1" lang="en-US" sz="3200" spc="-1" strike="noStrike">
                <a:solidFill>
                  <a:srgbClr val="ff0000"/>
                </a:solidFill>
                <a:latin typeface="Verdana-Bold"/>
                <a:ea typeface="Verdana-Bold"/>
              </a:rPr>
              <a:t>Preliminary Results and Discussion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755640" y="1752480"/>
            <a:ext cx="10667880" cy="426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Wave test: 8 orders dispatched and all 8 completed within 700 ticks, with 0 collisions and 0 inventory-zone violations.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Cooperative A* prevented 17 conflicts; average nodes per route: A* 60, BFS 138, UCS 394.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One head-on conflict: Alpha-Beta and plain Minimax chose the same moves; 211 vs 765 nodes (72% fewer).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Forced battery drain triggered 1 CriticalEnergyThreshold and 1 charger run; 12 of 12 automated tests pass.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Baselines: UCS and BFS for search, plain Minimax for pruning. Larger-fleet results are planned.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66863" sy="16686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"/>
          <p:cNvSpPr txBox="1"/>
          <p:nvPr/>
        </p:nvSpPr>
        <p:spPr>
          <a:xfrm>
            <a:off x="766440" y="304920"/>
            <a:ext cx="10667880" cy="12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r>
              <a:rPr b="1" lang="en-US" sz="3200" spc="-1" strike="noStrike">
                <a:solidFill>
                  <a:srgbClr val="ff0000"/>
                </a:solidFill>
                <a:latin typeface="Verdana-Bold"/>
                <a:ea typeface="Verdana-Bold"/>
              </a:rPr>
              <a:t>User Interface / Implementation Screenshots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755640" y="1752480"/>
            <a:ext cx="10667880" cy="426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Home page: dispatch form, live canvas with A* paths, battery rings and hatched no-go inventory zones.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Robot inspector: position, battery versus charger threshold, goal, zone status and explain() text.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Monitor page: KPI ribbon, battery bars with threshold markers, AI decision feed, charts and KB query box.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Working application screenshots: [insert verified screenshots of the Home and Monitor pages].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4211280" y="6245280"/>
            <a:ext cx="376920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200" spc="-1" strike="noStrike">
                <a:solidFill>
                  <a:srgbClr val="000000"/>
                </a:solidFill>
                <a:latin typeface="Verdana"/>
                <a:ea typeface="Verdana"/>
              </a:rPr>
              <a:t>Department of Computer Science and Engineering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858600" y="6245280"/>
            <a:ext cx="25502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Verdana"/>
                <a:ea typeface="Verdana"/>
              </a:rPr>
              <a:t>Second Review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66863" sy="16686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"/>
          <p:cNvSpPr txBox="1"/>
          <p:nvPr/>
        </p:nvSpPr>
        <p:spPr>
          <a:xfrm>
            <a:off x="766440" y="304920"/>
            <a:ext cx="10667880" cy="12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algn="ctr"/>
            <a:r>
              <a:rPr b="1" lang="en-US" sz="3200" spc="-1" strike="noStrike">
                <a:solidFill>
                  <a:srgbClr val="ff0000"/>
                </a:solidFill>
                <a:latin typeface="Verdana-Bold"/>
                <a:ea typeface="Verdana-Bold"/>
              </a:rPr>
              <a:t>Challenges Faced and Solutions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755640" y="1752480"/>
            <a:ext cx="10667880" cy="426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Robots cutting through storage: one passable() rule treats inventory as walls except the goal cell.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Head-on conflicts: reservations first, then Alpha-Beta; a 6% wheel-slip chance creates real conflicts.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Stranded robots: E_required is recomputed every tick from the A* distance to a free charger.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Stale routes: replanning is triggered whenever obstacles change.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Remaining issue: benchmark larger fleets and test other browsers and devices.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66863" sy="16686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"/>
          <p:cNvSpPr txBox="1"/>
          <p:nvPr/>
        </p:nvSpPr>
        <p:spPr>
          <a:xfrm>
            <a:off x="766440" y="304920"/>
            <a:ext cx="10667880" cy="12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algn="ctr"/>
            <a:r>
              <a:rPr b="1" lang="en-US" sz="3200" spc="-1" strike="noStrike">
                <a:solidFill>
                  <a:srgbClr val="ff0000"/>
                </a:solidFill>
                <a:latin typeface="Verdana-Bold"/>
                <a:ea typeface="Verdana-Bold"/>
              </a:rPr>
              <a:t>Work Plan Until Final Review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755640" y="1752480"/>
            <a:ext cx="10667880" cy="426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Proposed Week 1: benchmark A* and Cooperative A* on larger fleets and heavier order waves.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Proposed Week 2: extend Alpha-Beta to three-way intersection deadlocks; add idle-time re-slotting of frequently ordered pods (return-slot choice is already heat-aware).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Proposed Week 3: compare against a fixed-route, first-come-first-served baseline; capture screenshots.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Proposed Week 4: complete documentation, the final report and the demonstration rehearsal.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28760" indent="-314280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Verdana"/>
                <a:ea typeface="Verdana"/>
              </a:rPr>
              <a:t>Exact dates to be confirmed with the supervisor.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66863" sy="16686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 txBox="1"/>
          <p:nvPr/>
        </p:nvSpPr>
        <p:spPr>
          <a:xfrm>
            <a:off x="766440" y="304920"/>
            <a:ext cx="10667880" cy="12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algn="ctr"/>
            <a:r>
              <a:rPr b="1" lang="en-US" sz="3200" spc="-1" strike="noStrike">
                <a:solidFill>
                  <a:srgbClr val="ff0000"/>
                </a:solidFill>
                <a:latin typeface="Verdana-Bold"/>
                <a:ea typeface="Verdana-Bold"/>
              </a:rPr>
              <a:t>References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809640" y="1809720"/>
            <a:ext cx="10572840" cy="423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Verdana"/>
                <a:ea typeface="Verdana"/>
              </a:rPr>
              <a:t>[1] Russell, S., &amp; Norvig, P. (2021). Artificial Intelligence: A Modern Approach (4th ed.). Pearson.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000000"/>
                </a:solidFill>
                <a:latin typeface="Verdana"/>
                <a:ea typeface="Verdana"/>
              </a:rPr>
              <a:t>[2] Hart, P. E., Nilsson, N. J., &amp; Raphael, B. (1968). A formal basis for the heuristic determination of minimum cost paths. IEEE Transactions on Systems Science and Cybernetics, 4(2), 100–107.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000000"/>
                </a:solidFill>
                <a:latin typeface="Verdana"/>
                <a:ea typeface="Verdana"/>
              </a:rPr>
              <a:t>[3] Wurman, P. R., D’Andrea, R., &amp; Mountz, M. (2008). Coordinating hundreds of cooperative, autonomous vehicles in warehouses. AI Magazine, 29(1), 9–20.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000000"/>
                </a:solidFill>
                <a:latin typeface="Verdana"/>
                <a:ea typeface="Verdana"/>
              </a:rPr>
              <a:t>[4] Silver, D. (2005). Cooperative pathfinding. Proceedings of the 1st AAAI Conference on Artificial Intelligence and Interactive Digital Entertainment (AIIDE), 117–122.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000000"/>
                </a:solidFill>
                <a:latin typeface="Verdana"/>
                <a:ea typeface="Verdana"/>
              </a:rPr>
              <a:t>[5] Knuth, D. E., &amp; Moore, R. W. (1975). An analysis of alpha-beta pruning. Artificial Intelligence, 6(4), 293–326.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000000"/>
                </a:solidFill>
                <a:latin typeface="Verdana"/>
                <a:ea typeface="Verdana"/>
              </a:rPr>
              <a:t>[6] Mackworth, A. K. (1977). Consistency in networks of relations. Artificial Intelligence, 8(1), 99–118.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000000"/>
                </a:solidFill>
                <a:latin typeface="Verdana"/>
                <a:ea typeface="Verdana"/>
              </a:rPr>
              <a:t>[7] Python Software Foundation. Python Documentation. https://docs.python.org/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000000"/>
                </a:solidFill>
                <a:latin typeface="Verdana"/>
                <a:ea typeface="Verdana"/>
              </a:rPr>
              <a:t>[8] FastAPI. FastAPI Documentation. https://fastapi.tiangolo.com/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66863" sy="166863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 txBox="1"/>
          <p:nvPr/>
        </p:nvSpPr>
        <p:spPr>
          <a:xfrm>
            <a:off x="711360" y="3168000"/>
            <a:ext cx="10667880" cy="12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/>
            <a:r>
              <a:rPr b="1" lang="en-US" sz="4000" spc="-1" strike="noStrike">
                <a:solidFill>
                  <a:srgbClr val="ff0000"/>
                </a:solidFill>
                <a:latin typeface="Verdana-Bold"/>
                <a:ea typeface="Verdana-Bold"/>
              </a:rPr>
              <a:t>Thank You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809640" y="4809960"/>
            <a:ext cx="10572840" cy="66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900" spc="-1" strike="noStrike">
                <a:solidFill>
                  <a:srgbClr val="16355c"/>
                </a:solidFill>
                <a:latin typeface="Verdana"/>
                <a:ea typeface="Verdana"/>
              </a:rPr>
              <a:t>SWARM-WH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900" spc="-1" strike="noStrike">
                <a:solidFill>
                  <a:srgbClr val="16355c"/>
                </a:solidFill>
                <a:latin typeface="Verdana"/>
                <a:ea typeface="Verdana"/>
              </a:rPr>
              <a:t>Autonomous Kiva fulfillment coordinator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