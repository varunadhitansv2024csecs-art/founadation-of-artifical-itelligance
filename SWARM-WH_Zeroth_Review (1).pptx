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4361760" y="365760"/>
            <a:ext cx="3474720" cy="1122120"/>
          </a:xfrm>
          <a:prstGeom prst="rect">
            <a:avLst/>
          </a:prstGeom>
          <a:ln w="0">
            <a:noFill/>
          </a:ln>
        </p:spPr>
      </p:pic>
      <p:sp>
        <p:nvSpPr>
          <p:cNvPr id="1" name=""/>
          <p:cNvSpPr txBox="1"/>
          <p:nvPr/>
        </p:nvSpPr>
        <p:spPr>
          <a:xfrm>
            <a:off x="0" y="6355080"/>
            <a:ext cx="1219176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Rajalakshmi Engineering College,Department of Cyber 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2"/>
          <a:stretch/>
        </p:blipFill>
        <p:spPr>
          <a:xfrm>
            <a:off x="3108960" y="365760"/>
            <a:ext cx="4663440" cy="1506240"/>
          </a:xfrm>
          <a:prstGeom prst="rect">
            <a:avLst/>
          </a:prstGeom>
          <a:ln w="0">
            <a:noFill/>
          </a:ln>
        </p:spPr>
      </p:pic>
      <p:sp>
        <p:nvSpPr>
          <p:cNvPr id="7" name=""/>
          <p:cNvSpPr txBox="1"/>
          <p:nvPr/>
        </p:nvSpPr>
        <p:spPr>
          <a:xfrm>
            <a:off x="0" y="6355080"/>
            <a:ext cx="1219176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Rajalakshmi Engineering College,Department of Cyber 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6419160" y="3520440"/>
            <a:ext cx="4206600" cy="1463400"/>
          </a:xfrm>
          <a:custGeom>
            <a:avLst/>
            <a:gdLst/>
            <a:ahLst/>
            <a:rect l="0" t="0" r="r" b="b"/>
            <a:pathLst>
              <a:path w="11685" h="4065">
                <a:moveTo>
                  <a:pt x="0" y="0"/>
                </a:moveTo>
                <a:lnTo>
                  <a:pt x="11685" y="0"/>
                </a:lnTo>
                <a:lnTo>
                  <a:pt x="11685" y="4065"/>
                </a:lnTo>
                <a:lnTo>
                  <a:pt x="0" y="406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0" y="6355080"/>
            <a:ext cx="12191760" cy="27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Rajalakshmi Engineering College,Department of Cyber Security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914400" y="1737360"/>
            <a:ext cx="10360080" cy="420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algn="ctr">
              <a:spcBef>
                <a:spcPts val="961"/>
              </a:spcBef>
              <a:spcAft>
                <a:spcPts val="400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Department of Cyber Security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961"/>
              </a:spcBef>
              <a:spcAft>
                <a:spcPts val="400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2026-2027- Odd Semester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961"/>
              </a:spcBef>
              <a:spcAft>
                <a:spcPts val="400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III Year /V Sem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575"/>
              </a:spcBef>
              <a:spcAft>
                <a:spcPts val="400"/>
              </a:spcAft>
            </a:pPr>
            <a:r>
              <a:rPr b="1" lang="en-US" sz="2400" spc="-1" strike="noStrike">
                <a:solidFill>
                  <a:srgbClr val="000000"/>
                </a:solidFill>
                <a:latin typeface="Calibri-Bold"/>
                <a:ea typeface="Calibri-Bold"/>
              </a:rPr>
              <a:t>CS23533-FOUNDATIONS OF ARTIFICIAL INTELLIGENCE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961"/>
              </a:spcBef>
              <a:spcAft>
                <a:spcPts val="400"/>
              </a:spcAft>
            </a:pPr>
            <a:r>
              <a:rPr b="0" lang="en-US" sz="4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Zeroth Review – 31-07-2026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1609200" y="2148840"/>
            <a:ext cx="8961120" cy="118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3333" lnSpcReduction="20000"/>
          </a:bodyPr>
          <a:p>
            <a:r>
              <a:rPr b="1" lang="en-US" sz="3200" spc="-1" strike="noStrike">
                <a:solidFill>
                  <a:srgbClr val="000000"/>
                </a:solidFill>
                <a:latin typeface="Calibri-Bold"/>
                <a:ea typeface="Calibri-Bold"/>
              </a:rPr>
              <a:t>SWARM-WH: Autonomous Kiva Fulfillment Coordinator Using Classical AI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920240" y="3520440"/>
            <a:ext cx="4206240" cy="146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222" lnSpcReduction="20000"/>
          </a:bodyPr>
          <a:p>
            <a:r>
              <a:rPr b="1" lang="en-US" sz="22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Batch Members 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1. </a:t>
            </a: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Naveen Prabhu S K 241901069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2. Varun Adhitan S V 241901121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419160" y="3520440"/>
            <a:ext cx="4206240" cy="146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Supervisor: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4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Dr. S.Bhuvana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4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Assistant Professor[SG]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OUTLINE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68680" y="1280160"/>
            <a:ext cx="1042416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Abstract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Objective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Literature Survey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Existing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Proposed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Novelty in Proposed 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Block Diagram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Hardware/Software Requirements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18960" indent="-318960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4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References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ABSTRACT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94360" y="1234440"/>
            <a:ext cx="10972800" cy="493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Modern fulfillment centers run fleets of mobile robots that carry whole storage pods to packing stations. Coordinating them is hard: every order needs the right robot, routes must not collide, robots must stay out of storage space unless they are lifting a pod, and batteries must never run out in the middle of an aisle. This project presents SWARM-WH, an autonomous Kiva-style fulfillment coordinator built entirely with classical AI and no machine learning.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en-US" sz="21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Orders are matched to robots as a constraint satisfaction problem (AC-3, backtracking with MRV and forward checking). Robots travel with A* and Space-Time Cooperative A*, and an Alpha-Beta minimax traffic controller resolves head-on conflicts. A first-order-logic safety agent sends a robot to charge the moment its battery falls to the energy needed to reach the nearest charger, and simulated annealing chooses where each pod is returned. A live web dashboard lets the user dispatch products and see the reasoning behind every decision.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OBJECTIVE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To develop an autonomous Kiva-style fulfillment coordinator for a fleet of warehouse robots using classical AI only.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To assign each dispatch order to the best battery-feasible idle robot using constraint satisfaction (AC-3, backtracking, MRV, forward checking).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To plan optimal, collision-free routes with A* and Space-Time Cooperative A*, keeping robots out of inventory space unless they are picking a pod.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To resolve head-on conflicts and deadlocks using Minimax with Alpha-Beta pruning over joint actions.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To trigger autonomous charging with a first-order-logic safety agent when battery reaches the minimum energy needed to reach a charger.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To build an interactive web dashboard where the user dispatches products and sees an explanation of every AI decision.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LITERATURE SURVEY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" name=""/>
          <p:cNvGraphicFramePr/>
          <p:nvPr/>
        </p:nvGraphicFramePr>
        <p:xfrm>
          <a:off x="548640" y="1234440"/>
          <a:ext cx="11091600" cy="360"/>
        </p:xfrm>
        <a:graphic>
          <a:graphicData uri="http://schemas.openxmlformats.org/drawingml/2006/table">
            <a:tbl>
              <a:tblPr/>
              <a:tblGrid>
                <a:gridCol w="4572000"/>
                <a:gridCol w="868680"/>
                <a:gridCol w="2468880"/>
                <a:gridCol w="3182040"/>
              </a:tblGrid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A67B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A67B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AUTHOR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A67B8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4A67B8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Artificial Intelligence: A Modern Approach (A*, CSP, Minimax, Logic)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2021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S. Russell, P. Norvig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A*, CSP, Alpha-Beta, Simulated Annealing, FOL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 Formal Basis for the Heuristic Determination of Minimum Cost Paths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1968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P. Hart, N. Nilsson, B. Raphael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A* Search with admissible heuristic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Coordinating Hundreds of Cooperative, Autonomous Vehicles in Warehouses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2008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P. Wurman, R. D’Andrea, M. Mountz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Kiva system: task allocation, multi-robot path planning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Cooperative Pathfinding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2005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D. Silver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Cooperative A*, space-time reservation table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An Analysis of Alpha-Beta Pruning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1975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D. Knuth, R. Moore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Minimax with Alpha-Beta pruning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A"/>
                    </a:solidFill>
                  </a:tcPr>
                </a:tc>
              </a:tr>
              <a:tr h="326160"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Consistency in Networks of Relations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</a:rPr>
                        <a:t>1977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A. Mackworth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4920" rIns="34920" tIns="34920" bIns="34920" anchor="t" anchorCtr="1" wrap="square">
                      <a:noAutofit/>
                    </a:bodyPr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</a:rPr>
                        <a:t>AC-3 arc consistency for CSP</a:t>
                      </a:r>
                    </a:p>
                  </a:txBody>
                  <a:tcPr anchor="ctr" marL="73152" marR="73152" marT="36576" marB="36576">
                    <a:lnL w="38160">
                      <a:solidFill>
                        <a:srgbClr val="ffffff"/>
                      </a:solidFill>
                      <a:prstDash val="solid"/>
                    </a:lnL>
                    <a:lnR w="381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EXISTING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Conventional warehouses rely on </a:t>
            </a:r>
            <a:r>
              <a:rPr b="1" lang="en-US" sz="22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fixed-route AGVs and manual or first-come-first-served order assignment</a:t>
            </a: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by supervisors.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Robots follow static, pre-planned paths with no cooperative reservation, so they queue, block each other and risk collisions.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Assignment ignores travel cost and battery together, so the best robot is not guaranteed for each order.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Charging uses a fixed timer or a flat low-battery percentage, not the distance to the nearest charger, so robots can strand mid-aisle.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Robots may cut through storage areas, causing congestion and risk to stored pods.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294840" indent="-29484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2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Decisions are a black box: operators cannot see why a robot was chosen or a route was taken.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PROPOSED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594360" y="1234440"/>
            <a:ext cx="10972800" cy="558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SWARM-WH treats the robot fleet as a multi-agent planning problem and solves it with classical AI: CSP, A*, Cooperative A*, Minimax with Alpha-Beta, simulated annealing and first-order logic.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Working: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User selects a product (SKU or pod), a dispatch station (A–D) and a priority.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CSP allocator (AC-3, backtracking, MRV, forward checking) assigns the best idle robot.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Pickup: the robot drives empty with A* to the pod and enters inventory space only on that pod’s cell.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Delivery: it lifts the pod and carries it to the station along open aisles only.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Cooperative A* books (x, y, t) cells; Alpha-Beta resolves head-on conflicts (MOVE / WAIT / YIELD).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FOL safety agent: if battery ≤ E_required, tasks are pre-empted and the robot routes to a charger.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7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Return: simulated annealing picks the storage slot; the robot parks in an aisle and goes idle.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NOVELTY IN PROPOSED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Inventory-zone discipline</a:t>
            </a: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— robots never enter storage space unless picking or stowing that pod; planners reroute through aisles and a violation counter audits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Dynamic energy threshold</a:t>
            </a: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— E_required = A* steps to the nearest free charger × drain + buffer, recomputed every tick instead of a fixed battery percentage.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Layered collision avoidance</a:t>
            </a: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— Space-Time Cooperative A* first, an Alpha-Beta traffic controller second, LRTA* online replanning as fallback.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Fully explainable</a:t>
            </a: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— every A*, CSP, Alpha-Beta and FOL decision streams to a live feed; backward-chaining queries show a proof tree.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Classical AI only</a:t>
            </a: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— all algorithms written from scratch, with live A* vs UCS vs BFS node comparison and no machine learning.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20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Interactive digital twin</a:t>
            </a: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 — 60 fps canvas with obstacle drops, forced battery drain and order waves for testing the safety rules.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BLOCK DIAGRAM (PROPOSED SYSTEM)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48640" y="1051560"/>
            <a:ext cx="11091600" cy="29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400" spc="-1" strike="noStrike">
                <a:solidFill>
                  <a:srgbClr val="1e3763"/>
                </a:solidFill>
                <a:latin typeface="Calibri-Bold"/>
                <a:ea typeface="Calibri-Bold"/>
              </a:rPr>
              <a:t>System Architecture — SWARM-WH: Autonomous Kiva Fulfillment Coordinator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48640" y="1417320"/>
            <a:ext cx="2560680" cy="3612240"/>
          </a:xfrm>
          <a:custGeom>
            <a:avLst/>
            <a:gdLst/>
            <a:ahLst/>
            <a:rect l="0" t="0" r="r" b="b"/>
            <a:pathLst>
              <a:path w="7113" h="10034">
                <a:moveTo>
                  <a:pt x="6909" y="0"/>
                </a:moveTo>
                <a:cubicBezTo>
                  <a:pt x="7045" y="0"/>
                  <a:pt x="7113" y="68"/>
                  <a:pt x="7113" y="203"/>
                </a:cubicBezTo>
                <a:lnTo>
                  <a:pt x="7113" y="9831"/>
                </a:lnTo>
                <a:cubicBezTo>
                  <a:pt x="7113" y="9966"/>
                  <a:pt x="7045" y="10034"/>
                  <a:pt x="6909" y="10034"/>
                </a:cubicBezTo>
                <a:lnTo>
                  <a:pt x="203" y="10034"/>
                </a:lnTo>
                <a:cubicBezTo>
                  <a:pt x="68" y="10034"/>
                  <a:pt x="0" y="9966"/>
                  <a:pt x="0" y="983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6909" y="0"/>
                </a:lnTo>
                <a:close/>
              </a:path>
            </a:pathLst>
          </a:custGeom>
          <a:solidFill>
            <a:srgbClr val="ffffff"/>
          </a:solidFill>
          <a:ln w="22320">
            <a:solidFill>
              <a:srgbClr val="2d8b56"/>
            </a:solidFill>
            <a:round/>
          </a:ln>
        </p:spPr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40080" y="1463040"/>
            <a:ext cx="237744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2d8b56"/>
                </a:solidFill>
                <a:latin typeface="Calibri-Bold"/>
                <a:ea typeface="Calibri-Bold"/>
              </a:rPr>
              <a:t>INPUT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" name=""/>
          <p:cNvGrpSpPr/>
          <p:nvPr/>
        </p:nvGrpSpPr>
        <p:grpSpPr>
          <a:xfrm>
            <a:off x="685800" y="1783080"/>
            <a:ext cx="2286360" cy="686160"/>
            <a:chOff x="685800" y="1783080"/>
            <a:chExt cx="2286360" cy="686160"/>
          </a:xfrm>
        </p:grpSpPr>
        <p:sp>
          <p:nvSpPr>
            <p:cNvPr id="37" name=""/>
            <p:cNvSpPr/>
            <p:nvPr/>
          </p:nvSpPr>
          <p:spPr>
            <a:xfrm>
              <a:off x="685800" y="1783080"/>
              <a:ext cx="2286360" cy="686160"/>
            </a:xfrm>
            <a:custGeom>
              <a:avLst/>
              <a:gdLst/>
              <a:ahLst/>
              <a:rect l="0" t="0" r="r" b="b"/>
              <a:pathLst>
                <a:path w="6351" h="1906">
                  <a:moveTo>
                    <a:pt x="6198" y="0"/>
                  </a:moveTo>
                  <a:cubicBezTo>
                    <a:pt x="6300" y="0"/>
                    <a:pt x="6351" y="51"/>
                    <a:pt x="6351" y="152"/>
                  </a:cubicBezTo>
                  <a:lnTo>
                    <a:pt x="6351" y="1753"/>
                  </a:lnTo>
                  <a:cubicBezTo>
                    <a:pt x="6351" y="1855"/>
                    <a:pt x="6300" y="1906"/>
                    <a:pt x="6198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3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198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2d8b56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"/>
            <p:cNvSpPr txBox="1"/>
            <p:nvPr/>
          </p:nvSpPr>
          <p:spPr>
            <a:xfrm>
              <a:off x="709920" y="1807200"/>
              <a:ext cx="223812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Product / SKU / Pod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(source location)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" name=""/>
          <p:cNvGrpSpPr/>
          <p:nvPr/>
        </p:nvGrpSpPr>
        <p:grpSpPr>
          <a:xfrm>
            <a:off x="685800" y="2597040"/>
            <a:ext cx="2286360" cy="686160"/>
            <a:chOff x="685800" y="2597040"/>
            <a:chExt cx="2286360" cy="686160"/>
          </a:xfrm>
        </p:grpSpPr>
        <p:sp>
          <p:nvSpPr>
            <p:cNvPr id="40" name=""/>
            <p:cNvSpPr/>
            <p:nvPr/>
          </p:nvSpPr>
          <p:spPr>
            <a:xfrm>
              <a:off x="685800" y="2597040"/>
              <a:ext cx="2286360" cy="686160"/>
            </a:xfrm>
            <a:custGeom>
              <a:avLst/>
              <a:gdLst/>
              <a:ahLst/>
              <a:rect l="0" t="0" r="r" b="b"/>
              <a:pathLst>
                <a:path w="6351" h="1906">
                  <a:moveTo>
                    <a:pt x="6198" y="0"/>
                  </a:moveTo>
                  <a:cubicBezTo>
                    <a:pt x="6300" y="0"/>
                    <a:pt x="6351" y="51"/>
                    <a:pt x="6351" y="152"/>
                  </a:cubicBezTo>
                  <a:lnTo>
                    <a:pt x="6351" y="1753"/>
                  </a:lnTo>
                  <a:cubicBezTo>
                    <a:pt x="6351" y="1855"/>
                    <a:pt x="6300" y="1906"/>
                    <a:pt x="6198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3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198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2d8b56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"/>
            <p:cNvSpPr txBox="1"/>
            <p:nvPr/>
          </p:nvSpPr>
          <p:spPr>
            <a:xfrm>
              <a:off x="709920" y="2620800"/>
              <a:ext cx="223812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Dispatch Station A–D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+ Priority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" name=""/>
          <p:cNvGrpSpPr/>
          <p:nvPr/>
        </p:nvGrpSpPr>
        <p:grpSpPr>
          <a:xfrm>
            <a:off x="685800" y="3410640"/>
            <a:ext cx="2286360" cy="686160"/>
            <a:chOff x="685800" y="3410640"/>
            <a:chExt cx="2286360" cy="686160"/>
          </a:xfrm>
        </p:grpSpPr>
        <p:sp>
          <p:nvSpPr>
            <p:cNvPr id="43" name=""/>
            <p:cNvSpPr/>
            <p:nvPr/>
          </p:nvSpPr>
          <p:spPr>
            <a:xfrm>
              <a:off x="685800" y="3410640"/>
              <a:ext cx="2286360" cy="686160"/>
            </a:xfrm>
            <a:custGeom>
              <a:avLst/>
              <a:gdLst/>
              <a:ahLst/>
              <a:rect l="0" t="0" r="r" b="b"/>
              <a:pathLst>
                <a:path w="6351" h="1906">
                  <a:moveTo>
                    <a:pt x="6198" y="0"/>
                  </a:moveTo>
                  <a:cubicBezTo>
                    <a:pt x="6300" y="0"/>
                    <a:pt x="6351" y="51"/>
                    <a:pt x="6351" y="152"/>
                  </a:cubicBezTo>
                  <a:lnTo>
                    <a:pt x="6351" y="1754"/>
                  </a:lnTo>
                  <a:cubicBezTo>
                    <a:pt x="6351" y="1855"/>
                    <a:pt x="6300" y="1906"/>
                    <a:pt x="6198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4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198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2d8b56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"/>
            <p:cNvSpPr txBox="1"/>
            <p:nvPr/>
          </p:nvSpPr>
          <p:spPr>
            <a:xfrm>
              <a:off x="709920" y="3434760"/>
              <a:ext cx="223812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Map Events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(obstacle, drain, wave)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" name=""/>
          <p:cNvGrpSpPr/>
          <p:nvPr/>
        </p:nvGrpSpPr>
        <p:grpSpPr>
          <a:xfrm>
            <a:off x="685800" y="4224600"/>
            <a:ext cx="2286360" cy="686160"/>
            <a:chOff x="685800" y="4224600"/>
            <a:chExt cx="2286360" cy="686160"/>
          </a:xfrm>
        </p:grpSpPr>
        <p:sp>
          <p:nvSpPr>
            <p:cNvPr id="46" name=""/>
            <p:cNvSpPr/>
            <p:nvPr/>
          </p:nvSpPr>
          <p:spPr>
            <a:xfrm>
              <a:off x="685800" y="4224600"/>
              <a:ext cx="2286360" cy="686160"/>
            </a:xfrm>
            <a:custGeom>
              <a:avLst/>
              <a:gdLst/>
              <a:ahLst/>
              <a:rect l="0" t="0" r="r" b="b"/>
              <a:pathLst>
                <a:path w="6351" h="1906">
                  <a:moveTo>
                    <a:pt x="6198" y="0"/>
                  </a:moveTo>
                  <a:cubicBezTo>
                    <a:pt x="6300" y="0"/>
                    <a:pt x="6351" y="51"/>
                    <a:pt x="6351" y="152"/>
                  </a:cubicBezTo>
                  <a:lnTo>
                    <a:pt x="6351" y="1753"/>
                  </a:lnTo>
                  <a:cubicBezTo>
                    <a:pt x="6351" y="1855"/>
                    <a:pt x="6300" y="1906"/>
                    <a:pt x="6198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3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198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2d8b56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"/>
            <p:cNvSpPr txBox="1"/>
            <p:nvPr/>
          </p:nvSpPr>
          <p:spPr>
            <a:xfrm>
              <a:off x="709920" y="4248720"/>
              <a:ext cx="223812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Simulation Controls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(start, pause, step, speed)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8" name=""/>
          <p:cNvSpPr/>
          <p:nvPr/>
        </p:nvSpPr>
        <p:spPr>
          <a:xfrm>
            <a:off x="3566160" y="1417320"/>
            <a:ext cx="4480920" cy="3612240"/>
          </a:xfrm>
          <a:custGeom>
            <a:avLst/>
            <a:gdLst/>
            <a:ahLst/>
            <a:rect l="0" t="0" r="r" b="b"/>
            <a:pathLst>
              <a:path w="12447" h="10034">
                <a:moveTo>
                  <a:pt x="12244" y="0"/>
                </a:moveTo>
                <a:cubicBezTo>
                  <a:pt x="12379" y="0"/>
                  <a:pt x="12447" y="68"/>
                  <a:pt x="12447" y="203"/>
                </a:cubicBezTo>
                <a:lnTo>
                  <a:pt x="12447" y="9831"/>
                </a:lnTo>
                <a:cubicBezTo>
                  <a:pt x="12447" y="9966"/>
                  <a:pt x="12379" y="10034"/>
                  <a:pt x="12244" y="10034"/>
                </a:cubicBezTo>
                <a:lnTo>
                  <a:pt x="203" y="10034"/>
                </a:lnTo>
                <a:cubicBezTo>
                  <a:pt x="68" y="10034"/>
                  <a:pt x="0" y="9966"/>
                  <a:pt x="0" y="983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12244" y="0"/>
                </a:lnTo>
                <a:close/>
              </a:path>
            </a:pathLst>
          </a:custGeom>
          <a:solidFill>
            <a:srgbClr val="ffffff"/>
          </a:solidFill>
          <a:ln w="22320">
            <a:solidFill>
              <a:srgbClr val="3a6ba8"/>
            </a:solidFill>
            <a:round/>
          </a:ln>
        </p:spPr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3657600" y="1463040"/>
            <a:ext cx="4297680" cy="27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3a6ba8"/>
                </a:solidFill>
                <a:latin typeface="Calibri-Bold"/>
                <a:ea typeface="Calibri-Bold"/>
              </a:rPr>
              <a:t>AI CORE (FastAPI + Simulation Engine)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" name=""/>
          <p:cNvGrpSpPr/>
          <p:nvPr/>
        </p:nvGrpSpPr>
        <p:grpSpPr>
          <a:xfrm>
            <a:off x="3749040" y="1783080"/>
            <a:ext cx="4115160" cy="594720"/>
            <a:chOff x="3749040" y="1783080"/>
            <a:chExt cx="4115160" cy="594720"/>
          </a:xfrm>
        </p:grpSpPr>
        <p:sp>
          <p:nvSpPr>
            <p:cNvPr id="51" name=""/>
            <p:cNvSpPr/>
            <p:nvPr/>
          </p:nvSpPr>
          <p:spPr>
            <a:xfrm>
              <a:off x="3749040" y="1783080"/>
              <a:ext cx="4115160" cy="594720"/>
            </a:xfrm>
            <a:custGeom>
              <a:avLst/>
              <a:gdLst/>
              <a:ahLst/>
              <a:rect l="0" t="0" r="r" b="b"/>
              <a:pathLst>
                <a:path w="11431" h="1652">
                  <a:moveTo>
                    <a:pt x="11278" y="0"/>
                  </a:moveTo>
                  <a:cubicBezTo>
                    <a:pt x="11380" y="0"/>
                    <a:pt x="11431" y="51"/>
                    <a:pt x="11431" y="152"/>
                  </a:cubicBezTo>
                  <a:lnTo>
                    <a:pt x="11431" y="1500"/>
                  </a:lnTo>
                  <a:cubicBezTo>
                    <a:pt x="11431" y="1601"/>
                    <a:pt x="11380" y="1652"/>
                    <a:pt x="11278" y="1652"/>
                  </a:cubicBezTo>
                  <a:lnTo>
                    <a:pt x="152" y="1652"/>
                  </a:lnTo>
                  <a:cubicBezTo>
                    <a:pt x="51" y="1652"/>
                    <a:pt x="0" y="1601"/>
                    <a:pt x="0" y="1500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11278" y="0"/>
                  </a:lnTo>
                  <a:close/>
                </a:path>
              </a:pathLst>
            </a:custGeom>
            <a:solidFill>
              <a:srgbClr val="eaf1fb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"/>
            <p:cNvSpPr txBox="1"/>
            <p:nvPr/>
          </p:nvSpPr>
          <p:spPr>
            <a:xfrm>
              <a:off x="3773160" y="1807200"/>
              <a:ext cx="4066920" cy="5464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Simulation Engine — tick loop and order lifecycle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" name=""/>
          <p:cNvGrpSpPr/>
          <p:nvPr/>
        </p:nvGrpSpPr>
        <p:grpSpPr>
          <a:xfrm>
            <a:off x="3749040" y="2606040"/>
            <a:ext cx="1280520" cy="960480"/>
            <a:chOff x="3749040" y="2606040"/>
            <a:chExt cx="1280520" cy="960480"/>
          </a:xfrm>
        </p:grpSpPr>
        <p:sp>
          <p:nvSpPr>
            <p:cNvPr id="54" name=""/>
            <p:cNvSpPr/>
            <p:nvPr/>
          </p:nvSpPr>
          <p:spPr>
            <a:xfrm>
              <a:off x="3749040" y="2606040"/>
              <a:ext cx="1280520" cy="960480"/>
            </a:xfrm>
            <a:custGeom>
              <a:avLst/>
              <a:gdLst/>
              <a:ahLst/>
              <a:rect l="0" t="0" r="r" b="b"/>
              <a:pathLst>
                <a:path w="3557" h="2668">
                  <a:moveTo>
                    <a:pt x="3404" y="0"/>
                  </a:moveTo>
                  <a:cubicBezTo>
                    <a:pt x="3506" y="0"/>
                    <a:pt x="3557" y="51"/>
                    <a:pt x="3557" y="152"/>
                  </a:cubicBezTo>
                  <a:lnTo>
                    <a:pt x="3557" y="2516"/>
                  </a:lnTo>
                  <a:cubicBezTo>
                    <a:pt x="3557" y="2617"/>
                    <a:pt x="3506" y="2668"/>
                    <a:pt x="3404" y="2668"/>
                  </a:cubicBezTo>
                  <a:lnTo>
                    <a:pt x="152" y="2668"/>
                  </a:lnTo>
                  <a:cubicBezTo>
                    <a:pt x="51" y="2668"/>
                    <a:pt x="0" y="2617"/>
                    <a:pt x="0" y="2516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3404" y="0"/>
                  </a:lnTo>
                  <a:close/>
                </a:path>
              </a:pathLst>
            </a:custGeom>
            <a:solidFill>
              <a:srgbClr val="fdf3e1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"/>
            <p:cNvSpPr txBox="1"/>
            <p:nvPr/>
          </p:nvSpPr>
          <p:spPr>
            <a:xfrm>
              <a:off x="3773160" y="2630160"/>
              <a:ext cx="1232280" cy="912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CSP Allocator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AC-3, MRV,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Forward Checking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" name=""/>
          <p:cNvGrpSpPr/>
          <p:nvPr/>
        </p:nvGrpSpPr>
        <p:grpSpPr>
          <a:xfrm>
            <a:off x="5166360" y="2606040"/>
            <a:ext cx="1280520" cy="960480"/>
            <a:chOff x="5166360" y="2606040"/>
            <a:chExt cx="1280520" cy="960480"/>
          </a:xfrm>
        </p:grpSpPr>
        <p:sp>
          <p:nvSpPr>
            <p:cNvPr id="57" name=""/>
            <p:cNvSpPr/>
            <p:nvPr/>
          </p:nvSpPr>
          <p:spPr>
            <a:xfrm>
              <a:off x="5166360" y="2606040"/>
              <a:ext cx="1280520" cy="960480"/>
            </a:xfrm>
            <a:custGeom>
              <a:avLst/>
              <a:gdLst/>
              <a:ahLst/>
              <a:rect l="0" t="0" r="r" b="b"/>
              <a:pathLst>
                <a:path w="3557" h="2668">
                  <a:moveTo>
                    <a:pt x="3404" y="0"/>
                  </a:moveTo>
                  <a:cubicBezTo>
                    <a:pt x="3506" y="0"/>
                    <a:pt x="3557" y="51"/>
                    <a:pt x="3557" y="152"/>
                  </a:cubicBezTo>
                  <a:lnTo>
                    <a:pt x="3557" y="2516"/>
                  </a:lnTo>
                  <a:cubicBezTo>
                    <a:pt x="3557" y="2617"/>
                    <a:pt x="3506" y="2668"/>
                    <a:pt x="3404" y="2668"/>
                  </a:cubicBezTo>
                  <a:lnTo>
                    <a:pt x="152" y="2668"/>
                  </a:lnTo>
                  <a:cubicBezTo>
                    <a:pt x="51" y="2668"/>
                    <a:pt x="0" y="2617"/>
                    <a:pt x="0" y="2516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3404" y="0"/>
                  </a:lnTo>
                  <a:close/>
                </a:path>
              </a:pathLst>
            </a:custGeom>
            <a:solidFill>
              <a:srgbClr val="fdf3e1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"/>
            <p:cNvSpPr txBox="1"/>
            <p:nvPr/>
          </p:nvSpPr>
          <p:spPr>
            <a:xfrm>
              <a:off x="5190480" y="2630160"/>
              <a:ext cx="1232280" cy="912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Path Planner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A*, Cooperative A*,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LRTA*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" name=""/>
          <p:cNvGrpSpPr/>
          <p:nvPr/>
        </p:nvGrpSpPr>
        <p:grpSpPr>
          <a:xfrm>
            <a:off x="6583680" y="2606040"/>
            <a:ext cx="1280520" cy="960480"/>
            <a:chOff x="6583680" y="2606040"/>
            <a:chExt cx="1280520" cy="960480"/>
          </a:xfrm>
        </p:grpSpPr>
        <p:sp>
          <p:nvSpPr>
            <p:cNvPr id="60" name=""/>
            <p:cNvSpPr/>
            <p:nvPr/>
          </p:nvSpPr>
          <p:spPr>
            <a:xfrm>
              <a:off x="6583680" y="2606040"/>
              <a:ext cx="1280520" cy="960480"/>
            </a:xfrm>
            <a:custGeom>
              <a:avLst/>
              <a:gdLst/>
              <a:ahLst/>
              <a:rect l="0" t="0" r="r" b="b"/>
              <a:pathLst>
                <a:path w="3557" h="2668">
                  <a:moveTo>
                    <a:pt x="3404" y="0"/>
                  </a:moveTo>
                  <a:cubicBezTo>
                    <a:pt x="3506" y="0"/>
                    <a:pt x="3557" y="51"/>
                    <a:pt x="3557" y="152"/>
                  </a:cubicBezTo>
                  <a:lnTo>
                    <a:pt x="3557" y="2516"/>
                  </a:lnTo>
                  <a:cubicBezTo>
                    <a:pt x="3557" y="2617"/>
                    <a:pt x="3506" y="2668"/>
                    <a:pt x="3404" y="2668"/>
                  </a:cubicBezTo>
                  <a:lnTo>
                    <a:pt x="152" y="2668"/>
                  </a:lnTo>
                  <a:cubicBezTo>
                    <a:pt x="51" y="2668"/>
                    <a:pt x="0" y="2617"/>
                    <a:pt x="0" y="2516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3404" y="0"/>
                  </a:lnTo>
                  <a:close/>
                </a:path>
              </a:pathLst>
            </a:custGeom>
            <a:solidFill>
              <a:srgbClr val="fdf3e1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6607800" y="2630160"/>
              <a:ext cx="1232280" cy="912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Alpha-Beta Traffic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Controller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(Minimax)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" name=""/>
          <p:cNvGrpSpPr/>
          <p:nvPr/>
        </p:nvGrpSpPr>
        <p:grpSpPr>
          <a:xfrm>
            <a:off x="3749040" y="3703320"/>
            <a:ext cx="1280520" cy="960480"/>
            <a:chOff x="3749040" y="3703320"/>
            <a:chExt cx="1280520" cy="960480"/>
          </a:xfrm>
        </p:grpSpPr>
        <p:sp>
          <p:nvSpPr>
            <p:cNvPr id="63" name=""/>
            <p:cNvSpPr/>
            <p:nvPr/>
          </p:nvSpPr>
          <p:spPr>
            <a:xfrm>
              <a:off x="3749040" y="3703320"/>
              <a:ext cx="1280520" cy="960480"/>
            </a:xfrm>
            <a:custGeom>
              <a:avLst/>
              <a:gdLst/>
              <a:ahLst/>
              <a:rect l="0" t="0" r="r" b="b"/>
              <a:pathLst>
                <a:path w="3557" h="2668">
                  <a:moveTo>
                    <a:pt x="3404" y="0"/>
                  </a:moveTo>
                  <a:cubicBezTo>
                    <a:pt x="3506" y="0"/>
                    <a:pt x="3557" y="51"/>
                    <a:pt x="3557" y="152"/>
                  </a:cubicBezTo>
                  <a:lnTo>
                    <a:pt x="3557" y="2516"/>
                  </a:lnTo>
                  <a:cubicBezTo>
                    <a:pt x="3557" y="2617"/>
                    <a:pt x="3506" y="2668"/>
                    <a:pt x="3404" y="2668"/>
                  </a:cubicBezTo>
                  <a:lnTo>
                    <a:pt x="152" y="2668"/>
                  </a:lnTo>
                  <a:cubicBezTo>
                    <a:pt x="51" y="2668"/>
                    <a:pt x="0" y="2617"/>
                    <a:pt x="0" y="2516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3404" y="0"/>
                  </a:lnTo>
                  <a:close/>
                </a:path>
              </a:pathLst>
            </a:custGeom>
            <a:solidFill>
              <a:srgbClr val="eaf1fb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"/>
            <p:cNvSpPr txBox="1"/>
            <p:nvPr/>
          </p:nvSpPr>
          <p:spPr>
            <a:xfrm>
              <a:off x="3773160" y="3727440"/>
              <a:ext cx="1232280" cy="912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FOL Safety Agent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Battery threshold,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chaining rules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" name=""/>
          <p:cNvGrpSpPr/>
          <p:nvPr/>
        </p:nvGrpSpPr>
        <p:grpSpPr>
          <a:xfrm>
            <a:off x="5166360" y="3703320"/>
            <a:ext cx="1280520" cy="1043280"/>
            <a:chOff x="5166360" y="3703320"/>
            <a:chExt cx="1280520" cy="1043280"/>
          </a:xfrm>
        </p:grpSpPr>
        <p:sp>
          <p:nvSpPr>
            <p:cNvPr id="66" name=""/>
            <p:cNvSpPr/>
            <p:nvPr/>
          </p:nvSpPr>
          <p:spPr>
            <a:xfrm>
              <a:off x="5166360" y="3703320"/>
              <a:ext cx="1280520" cy="960480"/>
            </a:xfrm>
            <a:custGeom>
              <a:avLst/>
              <a:gdLst/>
              <a:ahLst/>
              <a:rect l="0" t="0" r="r" b="b"/>
              <a:pathLst>
                <a:path w="3557" h="2668">
                  <a:moveTo>
                    <a:pt x="3404" y="0"/>
                  </a:moveTo>
                  <a:cubicBezTo>
                    <a:pt x="3506" y="0"/>
                    <a:pt x="3557" y="51"/>
                    <a:pt x="3557" y="152"/>
                  </a:cubicBezTo>
                  <a:lnTo>
                    <a:pt x="3557" y="2516"/>
                  </a:lnTo>
                  <a:cubicBezTo>
                    <a:pt x="3557" y="2617"/>
                    <a:pt x="3506" y="2668"/>
                    <a:pt x="3404" y="2668"/>
                  </a:cubicBezTo>
                  <a:lnTo>
                    <a:pt x="152" y="2668"/>
                  </a:lnTo>
                  <a:cubicBezTo>
                    <a:pt x="51" y="2668"/>
                    <a:pt x="0" y="2617"/>
                    <a:pt x="0" y="2516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3404" y="0"/>
                  </a:lnTo>
                  <a:close/>
                </a:path>
              </a:pathLst>
            </a:custGeom>
            <a:solidFill>
              <a:srgbClr val="eaf1fb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"/>
            <p:cNvSpPr txBox="1"/>
            <p:nvPr/>
          </p:nvSpPr>
          <p:spPr>
            <a:xfrm>
              <a:off x="5190480" y="3727440"/>
              <a:ext cx="1232280" cy="10191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SA Slot Optimizer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Simulated Annealing,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return slots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" name=""/>
          <p:cNvGrpSpPr/>
          <p:nvPr/>
        </p:nvGrpSpPr>
        <p:grpSpPr>
          <a:xfrm>
            <a:off x="6583680" y="3703320"/>
            <a:ext cx="1280520" cy="960480"/>
            <a:chOff x="6583680" y="3703320"/>
            <a:chExt cx="1280520" cy="960480"/>
          </a:xfrm>
        </p:grpSpPr>
        <p:sp>
          <p:nvSpPr>
            <p:cNvPr id="69" name=""/>
            <p:cNvSpPr/>
            <p:nvPr/>
          </p:nvSpPr>
          <p:spPr>
            <a:xfrm>
              <a:off x="6583680" y="3703320"/>
              <a:ext cx="1280520" cy="960480"/>
            </a:xfrm>
            <a:custGeom>
              <a:avLst/>
              <a:gdLst/>
              <a:ahLst/>
              <a:rect l="0" t="0" r="r" b="b"/>
              <a:pathLst>
                <a:path w="3557" h="2668">
                  <a:moveTo>
                    <a:pt x="3404" y="0"/>
                  </a:moveTo>
                  <a:cubicBezTo>
                    <a:pt x="3506" y="0"/>
                    <a:pt x="3557" y="51"/>
                    <a:pt x="3557" y="152"/>
                  </a:cubicBezTo>
                  <a:lnTo>
                    <a:pt x="3557" y="2516"/>
                  </a:lnTo>
                  <a:cubicBezTo>
                    <a:pt x="3557" y="2617"/>
                    <a:pt x="3506" y="2668"/>
                    <a:pt x="3404" y="2668"/>
                  </a:cubicBezTo>
                  <a:lnTo>
                    <a:pt x="152" y="2668"/>
                  </a:lnTo>
                  <a:cubicBezTo>
                    <a:pt x="51" y="2668"/>
                    <a:pt x="0" y="2617"/>
                    <a:pt x="0" y="2516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3404" y="0"/>
                  </a:lnTo>
                  <a:close/>
                </a:path>
              </a:pathLst>
            </a:custGeom>
            <a:solidFill>
              <a:srgbClr val="eaf1fb"/>
            </a:solidFill>
            <a:ln w="15840">
              <a:solidFill>
                <a:srgbClr val="3a6ba8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"/>
            <p:cNvSpPr txBox="1"/>
            <p:nvPr/>
          </p:nvSpPr>
          <p:spPr>
            <a:xfrm>
              <a:off x="6607800" y="3727440"/>
              <a:ext cx="1232280" cy="9122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explain() Logger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reasoning trail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per decision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1" name=""/>
          <p:cNvSpPr/>
          <p:nvPr/>
        </p:nvSpPr>
        <p:spPr>
          <a:xfrm>
            <a:off x="5806440" y="2377440"/>
            <a:ext cx="0" cy="228600"/>
          </a:xfrm>
          <a:prstGeom prst="line">
            <a:avLst/>
          </a:prstGeom>
          <a:ln w="1908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503920" y="1417320"/>
            <a:ext cx="3155040" cy="3612240"/>
          </a:xfrm>
          <a:custGeom>
            <a:avLst/>
            <a:gdLst/>
            <a:ahLst/>
            <a:rect l="0" t="0" r="r" b="b"/>
            <a:pathLst>
              <a:path w="8764" h="10034">
                <a:moveTo>
                  <a:pt x="8561" y="0"/>
                </a:moveTo>
                <a:cubicBezTo>
                  <a:pt x="8696" y="0"/>
                  <a:pt x="8764" y="68"/>
                  <a:pt x="8764" y="203"/>
                </a:cubicBezTo>
                <a:lnTo>
                  <a:pt x="8764" y="9831"/>
                </a:lnTo>
                <a:cubicBezTo>
                  <a:pt x="8764" y="9966"/>
                  <a:pt x="8696" y="10034"/>
                  <a:pt x="8561" y="10034"/>
                </a:cubicBezTo>
                <a:lnTo>
                  <a:pt x="203" y="10034"/>
                </a:lnTo>
                <a:cubicBezTo>
                  <a:pt x="68" y="10034"/>
                  <a:pt x="0" y="9966"/>
                  <a:pt x="0" y="9831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8561" y="0"/>
                </a:lnTo>
                <a:close/>
              </a:path>
            </a:pathLst>
          </a:custGeom>
          <a:solidFill>
            <a:srgbClr val="ffffff"/>
          </a:solidFill>
          <a:ln w="22320">
            <a:solidFill>
              <a:srgbClr val="7a3ea0"/>
            </a:solidFill>
            <a:round/>
          </a:ln>
        </p:spPr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595360" y="1463040"/>
            <a:ext cx="2971800" cy="44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200" spc="-1" strike="noStrike">
                <a:solidFill>
                  <a:srgbClr val="7a3ea0"/>
                </a:solidFill>
                <a:latin typeface="Calibri-Bold"/>
                <a:ea typeface="Calibri-Bold"/>
              </a:rPr>
              <a:t>WEB DASHBOARD (Canvas + Chart.js)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" name=""/>
          <p:cNvGrpSpPr/>
          <p:nvPr/>
        </p:nvGrpSpPr>
        <p:grpSpPr>
          <a:xfrm>
            <a:off x="8641080" y="1783080"/>
            <a:ext cx="2880720" cy="686160"/>
            <a:chOff x="8641080" y="1783080"/>
            <a:chExt cx="2880720" cy="686160"/>
          </a:xfrm>
        </p:grpSpPr>
        <p:sp>
          <p:nvSpPr>
            <p:cNvPr id="75" name=""/>
            <p:cNvSpPr/>
            <p:nvPr/>
          </p:nvSpPr>
          <p:spPr>
            <a:xfrm>
              <a:off x="8641080" y="1783080"/>
              <a:ext cx="2880720" cy="686160"/>
            </a:xfrm>
            <a:custGeom>
              <a:avLst/>
              <a:gdLst/>
              <a:ahLst/>
              <a:rect l="0" t="0" r="r" b="b"/>
              <a:pathLst>
                <a:path w="8002" h="1906">
                  <a:moveTo>
                    <a:pt x="7849" y="0"/>
                  </a:moveTo>
                  <a:cubicBezTo>
                    <a:pt x="7951" y="0"/>
                    <a:pt x="8002" y="51"/>
                    <a:pt x="8002" y="152"/>
                  </a:cubicBezTo>
                  <a:lnTo>
                    <a:pt x="8002" y="1753"/>
                  </a:lnTo>
                  <a:cubicBezTo>
                    <a:pt x="8002" y="1855"/>
                    <a:pt x="7951" y="1906"/>
                    <a:pt x="7849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3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7849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7a3ea0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"/>
            <p:cNvSpPr txBox="1"/>
            <p:nvPr/>
          </p:nvSpPr>
          <p:spPr>
            <a:xfrm>
              <a:off x="8665200" y="1807200"/>
              <a:ext cx="283248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Live Kiva Canvas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(robots, A* paths, pods)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" name=""/>
          <p:cNvGrpSpPr/>
          <p:nvPr/>
        </p:nvGrpSpPr>
        <p:grpSpPr>
          <a:xfrm>
            <a:off x="8641080" y="2597040"/>
            <a:ext cx="2880720" cy="686160"/>
            <a:chOff x="8641080" y="2597040"/>
            <a:chExt cx="2880720" cy="686160"/>
          </a:xfrm>
        </p:grpSpPr>
        <p:sp>
          <p:nvSpPr>
            <p:cNvPr id="78" name=""/>
            <p:cNvSpPr/>
            <p:nvPr/>
          </p:nvSpPr>
          <p:spPr>
            <a:xfrm>
              <a:off x="8641080" y="2597040"/>
              <a:ext cx="2880720" cy="686160"/>
            </a:xfrm>
            <a:custGeom>
              <a:avLst/>
              <a:gdLst/>
              <a:ahLst/>
              <a:rect l="0" t="0" r="r" b="b"/>
              <a:pathLst>
                <a:path w="8002" h="1906">
                  <a:moveTo>
                    <a:pt x="7849" y="0"/>
                  </a:moveTo>
                  <a:cubicBezTo>
                    <a:pt x="7951" y="0"/>
                    <a:pt x="8002" y="51"/>
                    <a:pt x="8002" y="152"/>
                  </a:cubicBezTo>
                  <a:lnTo>
                    <a:pt x="8002" y="1753"/>
                  </a:lnTo>
                  <a:cubicBezTo>
                    <a:pt x="8002" y="1855"/>
                    <a:pt x="7951" y="1906"/>
                    <a:pt x="7849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3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7849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7a3ea0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"/>
            <p:cNvSpPr txBox="1"/>
            <p:nvPr/>
          </p:nvSpPr>
          <p:spPr>
            <a:xfrm>
              <a:off x="8665200" y="2620800"/>
              <a:ext cx="283248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Dispatch Queue and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Robot Inspector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" name=""/>
          <p:cNvGrpSpPr/>
          <p:nvPr/>
        </p:nvGrpSpPr>
        <p:grpSpPr>
          <a:xfrm>
            <a:off x="8641080" y="3410640"/>
            <a:ext cx="2880720" cy="686160"/>
            <a:chOff x="8641080" y="3410640"/>
            <a:chExt cx="2880720" cy="686160"/>
          </a:xfrm>
        </p:grpSpPr>
        <p:sp>
          <p:nvSpPr>
            <p:cNvPr id="81" name=""/>
            <p:cNvSpPr/>
            <p:nvPr/>
          </p:nvSpPr>
          <p:spPr>
            <a:xfrm>
              <a:off x="8641080" y="3410640"/>
              <a:ext cx="2880720" cy="686160"/>
            </a:xfrm>
            <a:custGeom>
              <a:avLst/>
              <a:gdLst/>
              <a:ahLst/>
              <a:rect l="0" t="0" r="r" b="b"/>
              <a:pathLst>
                <a:path w="8002" h="1906">
                  <a:moveTo>
                    <a:pt x="7849" y="0"/>
                  </a:moveTo>
                  <a:cubicBezTo>
                    <a:pt x="7951" y="0"/>
                    <a:pt x="8002" y="51"/>
                    <a:pt x="8002" y="152"/>
                  </a:cubicBezTo>
                  <a:lnTo>
                    <a:pt x="8002" y="1754"/>
                  </a:lnTo>
                  <a:cubicBezTo>
                    <a:pt x="8002" y="1855"/>
                    <a:pt x="7951" y="1906"/>
                    <a:pt x="7849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4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7849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7a3ea0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"/>
            <p:cNvSpPr txBox="1"/>
            <p:nvPr/>
          </p:nvSpPr>
          <p:spPr>
            <a:xfrm>
              <a:off x="8665200" y="3434760"/>
              <a:ext cx="283248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Telemetry and KPIs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(battery vs threshold, charts)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" name=""/>
          <p:cNvGrpSpPr/>
          <p:nvPr/>
        </p:nvGrpSpPr>
        <p:grpSpPr>
          <a:xfrm>
            <a:off x="8641080" y="4224600"/>
            <a:ext cx="2880720" cy="686160"/>
            <a:chOff x="8641080" y="4224600"/>
            <a:chExt cx="2880720" cy="686160"/>
          </a:xfrm>
        </p:grpSpPr>
        <p:sp>
          <p:nvSpPr>
            <p:cNvPr id="84" name=""/>
            <p:cNvSpPr/>
            <p:nvPr/>
          </p:nvSpPr>
          <p:spPr>
            <a:xfrm>
              <a:off x="8641080" y="4224600"/>
              <a:ext cx="2880720" cy="686160"/>
            </a:xfrm>
            <a:custGeom>
              <a:avLst/>
              <a:gdLst/>
              <a:ahLst/>
              <a:rect l="0" t="0" r="r" b="b"/>
              <a:pathLst>
                <a:path w="8002" h="1906">
                  <a:moveTo>
                    <a:pt x="7849" y="0"/>
                  </a:moveTo>
                  <a:cubicBezTo>
                    <a:pt x="7951" y="0"/>
                    <a:pt x="8002" y="51"/>
                    <a:pt x="8002" y="152"/>
                  </a:cubicBezTo>
                  <a:lnTo>
                    <a:pt x="8002" y="1753"/>
                  </a:lnTo>
                  <a:cubicBezTo>
                    <a:pt x="8002" y="1855"/>
                    <a:pt x="7951" y="1906"/>
                    <a:pt x="7849" y="1906"/>
                  </a:cubicBezTo>
                  <a:lnTo>
                    <a:pt x="152" y="1906"/>
                  </a:lnTo>
                  <a:cubicBezTo>
                    <a:pt x="51" y="1906"/>
                    <a:pt x="0" y="1855"/>
                    <a:pt x="0" y="1753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7849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7a3ea0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"/>
            <p:cNvSpPr txBox="1"/>
            <p:nvPr/>
          </p:nvSpPr>
          <p:spPr>
            <a:xfrm>
              <a:off x="8665200" y="4248720"/>
              <a:ext cx="2832480" cy="637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AI Decision Feed and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KB Query (proof tree)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6" name=""/>
          <p:cNvSpPr/>
          <p:nvPr/>
        </p:nvSpPr>
        <p:spPr>
          <a:xfrm>
            <a:off x="3108960" y="3200400"/>
            <a:ext cx="457200" cy="0"/>
          </a:xfrm>
          <a:prstGeom prst="line">
            <a:avLst/>
          </a:prstGeom>
          <a:ln w="1908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046720" y="3200400"/>
            <a:ext cx="457200" cy="0"/>
          </a:xfrm>
          <a:prstGeom prst="line">
            <a:avLst/>
          </a:prstGeom>
          <a:ln w="1908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-54360" bIns="-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48640" y="5303520"/>
            <a:ext cx="11110320" cy="914760"/>
          </a:xfrm>
          <a:custGeom>
            <a:avLst/>
            <a:gdLst/>
            <a:ahLst/>
            <a:rect l="0" t="0" r="r" b="b"/>
            <a:pathLst>
              <a:path w="30862" h="2541">
                <a:moveTo>
                  <a:pt x="30659" y="0"/>
                </a:moveTo>
                <a:cubicBezTo>
                  <a:pt x="30794" y="0"/>
                  <a:pt x="30862" y="68"/>
                  <a:pt x="30862" y="203"/>
                </a:cubicBezTo>
                <a:lnTo>
                  <a:pt x="30862" y="2337"/>
                </a:lnTo>
                <a:cubicBezTo>
                  <a:pt x="30862" y="2473"/>
                  <a:pt x="30794" y="2541"/>
                  <a:pt x="30659" y="2541"/>
                </a:cubicBezTo>
                <a:lnTo>
                  <a:pt x="203" y="2541"/>
                </a:lnTo>
                <a:cubicBezTo>
                  <a:pt x="68" y="2541"/>
                  <a:pt x="0" y="2473"/>
                  <a:pt x="0" y="2337"/>
                </a:cubicBezTo>
                <a:lnTo>
                  <a:pt x="0" y="203"/>
                </a:lnTo>
                <a:cubicBezTo>
                  <a:pt x="0" y="68"/>
                  <a:pt x="68" y="0"/>
                  <a:pt x="203" y="0"/>
                </a:cubicBezTo>
                <a:lnTo>
                  <a:pt x="30659" y="0"/>
                </a:lnTo>
                <a:close/>
              </a:path>
            </a:pathLst>
          </a:custGeom>
          <a:solidFill>
            <a:srgbClr val="fff8e6"/>
          </a:solidFill>
          <a:ln w="22320">
            <a:solidFill>
              <a:srgbClr val="e8a33c"/>
            </a:solidFill>
            <a:round/>
          </a:ln>
        </p:spPr>
        <p:txBody>
          <a:bodyPr lIns="101160" rIns="101160" tIns="56160" bIns="561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9" name=""/>
          <p:cNvGrpSpPr/>
          <p:nvPr/>
        </p:nvGrpSpPr>
        <p:grpSpPr>
          <a:xfrm>
            <a:off x="713160" y="5413320"/>
            <a:ext cx="2560680" cy="695160"/>
            <a:chOff x="713160" y="5413320"/>
            <a:chExt cx="2560680" cy="695160"/>
          </a:xfrm>
        </p:grpSpPr>
        <p:sp>
          <p:nvSpPr>
            <p:cNvPr id="90" name=""/>
            <p:cNvSpPr/>
            <p:nvPr/>
          </p:nvSpPr>
          <p:spPr>
            <a:xfrm>
              <a:off x="713160" y="5413320"/>
              <a:ext cx="2560680" cy="695160"/>
            </a:xfrm>
            <a:custGeom>
              <a:avLst/>
              <a:gdLst/>
              <a:ahLst/>
              <a:rect l="0" t="0" r="r" b="b"/>
              <a:pathLst>
                <a:path w="7113" h="1931">
                  <a:moveTo>
                    <a:pt x="6960" y="0"/>
                  </a:moveTo>
                  <a:cubicBezTo>
                    <a:pt x="7062" y="0"/>
                    <a:pt x="7113" y="51"/>
                    <a:pt x="7113" y="152"/>
                  </a:cubicBezTo>
                  <a:lnTo>
                    <a:pt x="7113" y="1778"/>
                  </a:lnTo>
                  <a:cubicBezTo>
                    <a:pt x="7113" y="1880"/>
                    <a:pt x="7062" y="1931"/>
                    <a:pt x="6960" y="1931"/>
                  </a:cubicBezTo>
                  <a:lnTo>
                    <a:pt x="152" y="1931"/>
                  </a:lnTo>
                  <a:cubicBezTo>
                    <a:pt x="51" y="1931"/>
                    <a:pt x="0" y="1880"/>
                    <a:pt x="0" y="1778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960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e8a33c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"/>
            <p:cNvSpPr txBox="1"/>
            <p:nvPr/>
          </p:nvSpPr>
          <p:spPr>
            <a:xfrm>
              <a:off x="737280" y="5437440"/>
              <a:ext cx="2512440" cy="647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Warehouse Model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30×20 grid, pods, stations,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chargers, obstacles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" name=""/>
          <p:cNvGrpSpPr/>
          <p:nvPr/>
        </p:nvGrpSpPr>
        <p:grpSpPr>
          <a:xfrm>
            <a:off x="3456360" y="5413320"/>
            <a:ext cx="2560680" cy="695160"/>
            <a:chOff x="3456360" y="5413320"/>
            <a:chExt cx="2560680" cy="695160"/>
          </a:xfrm>
        </p:grpSpPr>
        <p:sp>
          <p:nvSpPr>
            <p:cNvPr id="93" name=""/>
            <p:cNvSpPr/>
            <p:nvPr/>
          </p:nvSpPr>
          <p:spPr>
            <a:xfrm>
              <a:off x="3456360" y="5413320"/>
              <a:ext cx="2560680" cy="695160"/>
            </a:xfrm>
            <a:custGeom>
              <a:avLst/>
              <a:gdLst/>
              <a:ahLst/>
              <a:rect l="0" t="0" r="r" b="b"/>
              <a:pathLst>
                <a:path w="7113" h="1931">
                  <a:moveTo>
                    <a:pt x="6960" y="0"/>
                  </a:moveTo>
                  <a:cubicBezTo>
                    <a:pt x="7062" y="0"/>
                    <a:pt x="7113" y="51"/>
                    <a:pt x="7113" y="152"/>
                  </a:cubicBezTo>
                  <a:lnTo>
                    <a:pt x="7113" y="1778"/>
                  </a:lnTo>
                  <a:cubicBezTo>
                    <a:pt x="7113" y="1880"/>
                    <a:pt x="7062" y="1931"/>
                    <a:pt x="6960" y="1931"/>
                  </a:cubicBezTo>
                  <a:lnTo>
                    <a:pt x="152" y="1931"/>
                  </a:lnTo>
                  <a:cubicBezTo>
                    <a:pt x="51" y="1931"/>
                    <a:pt x="0" y="1880"/>
                    <a:pt x="0" y="1778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960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e8a33c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"/>
            <p:cNvSpPr txBox="1"/>
            <p:nvPr/>
          </p:nvSpPr>
          <p:spPr>
            <a:xfrm>
              <a:off x="3480480" y="5437440"/>
              <a:ext cx="2512440" cy="646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Reservation Table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(x, y, time step)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" name=""/>
          <p:cNvGrpSpPr/>
          <p:nvPr/>
        </p:nvGrpSpPr>
        <p:grpSpPr>
          <a:xfrm>
            <a:off x="6199560" y="5413320"/>
            <a:ext cx="2560680" cy="695160"/>
            <a:chOff x="6199560" y="5413320"/>
            <a:chExt cx="2560680" cy="695160"/>
          </a:xfrm>
        </p:grpSpPr>
        <p:sp>
          <p:nvSpPr>
            <p:cNvPr id="96" name=""/>
            <p:cNvSpPr/>
            <p:nvPr/>
          </p:nvSpPr>
          <p:spPr>
            <a:xfrm>
              <a:off x="6199560" y="5413320"/>
              <a:ext cx="2560680" cy="695160"/>
            </a:xfrm>
            <a:custGeom>
              <a:avLst/>
              <a:gdLst/>
              <a:ahLst/>
              <a:rect l="0" t="0" r="r" b="b"/>
              <a:pathLst>
                <a:path w="7113" h="1931">
                  <a:moveTo>
                    <a:pt x="6960" y="0"/>
                  </a:moveTo>
                  <a:cubicBezTo>
                    <a:pt x="7062" y="0"/>
                    <a:pt x="7113" y="51"/>
                    <a:pt x="7113" y="152"/>
                  </a:cubicBezTo>
                  <a:lnTo>
                    <a:pt x="7113" y="1778"/>
                  </a:lnTo>
                  <a:cubicBezTo>
                    <a:pt x="7113" y="1880"/>
                    <a:pt x="7062" y="1931"/>
                    <a:pt x="6960" y="1931"/>
                  </a:cubicBezTo>
                  <a:lnTo>
                    <a:pt x="152" y="1931"/>
                  </a:lnTo>
                  <a:cubicBezTo>
                    <a:pt x="51" y="1931"/>
                    <a:pt x="0" y="1880"/>
                    <a:pt x="0" y="1778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960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e8a33c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"/>
            <p:cNvSpPr txBox="1"/>
            <p:nvPr/>
          </p:nvSpPr>
          <p:spPr>
            <a:xfrm>
              <a:off x="6223680" y="5437440"/>
              <a:ext cx="2512440" cy="646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Safety Knowledge Base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(FOL Horn rules and facts)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8" name=""/>
          <p:cNvGrpSpPr/>
          <p:nvPr/>
        </p:nvGrpSpPr>
        <p:grpSpPr>
          <a:xfrm>
            <a:off x="8942760" y="5413320"/>
            <a:ext cx="2560680" cy="695160"/>
            <a:chOff x="8942760" y="5413320"/>
            <a:chExt cx="2560680" cy="695160"/>
          </a:xfrm>
        </p:grpSpPr>
        <p:sp>
          <p:nvSpPr>
            <p:cNvPr id="99" name=""/>
            <p:cNvSpPr/>
            <p:nvPr/>
          </p:nvSpPr>
          <p:spPr>
            <a:xfrm>
              <a:off x="8942760" y="5413320"/>
              <a:ext cx="2560680" cy="695160"/>
            </a:xfrm>
            <a:custGeom>
              <a:avLst/>
              <a:gdLst/>
              <a:ahLst/>
              <a:rect l="0" t="0" r="r" b="b"/>
              <a:pathLst>
                <a:path w="7113" h="1931">
                  <a:moveTo>
                    <a:pt x="6960" y="0"/>
                  </a:moveTo>
                  <a:cubicBezTo>
                    <a:pt x="7062" y="0"/>
                    <a:pt x="7113" y="51"/>
                    <a:pt x="7113" y="152"/>
                  </a:cubicBezTo>
                  <a:lnTo>
                    <a:pt x="7113" y="1778"/>
                  </a:lnTo>
                  <a:cubicBezTo>
                    <a:pt x="7113" y="1880"/>
                    <a:pt x="7062" y="1931"/>
                    <a:pt x="6960" y="1931"/>
                  </a:cubicBezTo>
                  <a:lnTo>
                    <a:pt x="152" y="1931"/>
                  </a:lnTo>
                  <a:cubicBezTo>
                    <a:pt x="51" y="1931"/>
                    <a:pt x="0" y="1880"/>
                    <a:pt x="0" y="1778"/>
                  </a:cubicBezTo>
                  <a:lnTo>
                    <a:pt x="0" y="152"/>
                  </a:lnTo>
                  <a:cubicBezTo>
                    <a:pt x="0" y="51"/>
                    <a:pt x="51" y="0"/>
                    <a:pt x="152" y="0"/>
                  </a:cubicBezTo>
                  <a:lnTo>
                    <a:pt x="6960" y="0"/>
                  </a:lnTo>
                  <a:close/>
                </a:path>
              </a:pathLst>
            </a:custGeom>
            <a:solidFill>
              <a:srgbClr val="ffffff"/>
            </a:solidFill>
            <a:ln w="15840">
              <a:solidFill>
                <a:srgbClr val="e8a33c"/>
              </a:solidFill>
              <a:round/>
            </a:ln>
          </p:spPr>
          <p:txBody>
            <a:bodyPr lIns="97920" rIns="97920" tIns="52920" bIns="5292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"/>
            <p:cNvSpPr txBox="1"/>
            <p:nvPr/>
          </p:nvSpPr>
          <p:spPr>
            <a:xfrm>
              <a:off x="8966880" y="5437440"/>
              <a:ext cx="2512440" cy="6469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Event Log and Metrics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  <a:p>
              <a:pPr algn="ctr"/>
              <a:r>
                <a:rPr b="0" lang="en-US" sz="1200" spc="-1" strike="noStrike">
                  <a:solidFill>
                    <a:srgbClr val="000000"/>
                  </a:solidFill>
                  <a:latin typeface="Calibri"/>
                  <a:ea typeface="Calibri"/>
                </a:rPr>
                <a:t>(decision feed, KPIs)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1" name=""/>
          <p:cNvSpPr/>
          <p:nvPr/>
        </p:nvSpPr>
        <p:spPr>
          <a:xfrm flipV="1">
            <a:off x="5806440" y="5029200"/>
            <a:ext cx="0" cy="274320"/>
          </a:xfrm>
          <a:prstGeom prst="line">
            <a:avLst/>
          </a:prstGeom>
          <a:ln w="19080">
            <a:solidFill>
              <a:srgbClr val="32323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HARDWARE/SOFTWARE REQUIREMENTS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94360" y="1280160"/>
            <a:ext cx="512064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Calibri-Bold"/>
                <a:ea typeface="Calibri-Bold"/>
              </a:rPr>
              <a:t>Hardware Requirement: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Processor : Intel Core i3 or above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RAM : 4 GB minimum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Storage : 1 GB free space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Display, keyboard and mouse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080760" y="1280160"/>
            <a:ext cx="557784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Calibri-Bold"/>
                <a:ea typeface="Calibri-Bold"/>
              </a:rPr>
              <a:t>Software Requirement: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Operating System : Windows 10/11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Programming Language : Python 3 (tested on 3.12)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IDE : Visual Studio Code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Backend : FastAPI, Uvicorn, WebSockets, Pydantic, NumPy, Pytest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Frontend : HTML5 Canvas, Tailwind CSS, Lucide Icons, Chart.js (CDN)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Browser : Chrome or Edge, with internet for the CDNs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9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Version Control : Git (Optional)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457200" y="320040"/>
            <a:ext cx="112744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algn="ctr"/>
            <a:r>
              <a:rPr b="1" lang="en-US" sz="3200" spc="-1" strike="noStrike">
                <a:solidFill>
                  <a:srgbClr val="1e3763"/>
                </a:solidFill>
                <a:latin typeface="Calibri-Bold"/>
                <a:ea typeface="Calibri-Bold"/>
              </a:rPr>
              <a:t>REFERENCES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59200" indent="-2592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19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[1] 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S. Russell and P. Norvig (2021). </a:t>
            </a:r>
            <a:r>
              <a:rPr b="0" i="1" lang="en-US" sz="1900" spc="-1" strike="noStrike">
                <a:solidFill>
                  <a:srgbClr val="000000"/>
                </a:solidFill>
                <a:latin typeface="TimesNewRomanPS-ItalicMT"/>
                <a:ea typeface="TimesNewRomanPS-ItalicMT"/>
              </a:rPr>
              <a:t>Artificial Intelligence: A Modern Approach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, 4th ed. Pearson.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259200" indent="-2592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19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[2] 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P. E. Hart, N. J. Nilsson and B. Raphael (1968). </a:t>
            </a:r>
            <a:r>
              <a:rPr b="0" i="1" lang="en-US" sz="1900" spc="-1" strike="noStrike">
                <a:solidFill>
                  <a:srgbClr val="000000"/>
                </a:solidFill>
                <a:latin typeface="TimesNewRomanPS-ItalicMT"/>
                <a:ea typeface="TimesNewRomanPS-ItalicMT"/>
              </a:rPr>
              <a:t>A Formal Basis for the Heuristic Determination of Minimum Cost Paths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, IEEE Trans. Systems Science and Cybernetics, vol. 4, no. 2, pp. 100–107.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259200" indent="-2592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19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[3] 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P. R. Wurman, R. D’Andrea and M. Mountz (2008). </a:t>
            </a:r>
            <a:r>
              <a:rPr b="0" i="1" lang="en-US" sz="1900" spc="-1" strike="noStrike">
                <a:solidFill>
                  <a:srgbClr val="000000"/>
                </a:solidFill>
                <a:latin typeface="TimesNewRomanPS-ItalicMT"/>
                <a:ea typeface="TimesNewRomanPS-ItalicMT"/>
              </a:rPr>
              <a:t>Coordinating Hundreds of Cooperative, Autonomous Vehicles in Warehouses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, AI Magazine, vol. 29, no. 1, pp. 9–20.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259200" indent="-2592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19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[4] 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D. Silver (2005). </a:t>
            </a:r>
            <a:r>
              <a:rPr b="0" i="1" lang="en-US" sz="1900" spc="-1" strike="noStrike">
                <a:solidFill>
                  <a:srgbClr val="000000"/>
                </a:solidFill>
                <a:latin typeface="TimesNewRomanPS-ItalicMT"/>
                <a:ea typeface="TimesNewRomanPS-ItalicMT"/>
              </a:rPr>
              <a:t>Cooperative Pathfinding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, Proc. 1st AAAI Conf. on Artificial Intelligence and Interactive Digital Entertainment (AIIDE), pp. 117–122.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259200" indent="-2592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19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[5] 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D. E. Knuth and R. W. Moore (1975). </a:t>
            </a:r>
            <a:r>
              <a:rPr b="0" i="1" lang="en-US" sz="1900" spc="-1" strike="noStrike">
                <a:solidFill>
                  <a:srgbClr val="000000"/>
                </a:solidFill>
                <a:latin typeface="TimesNewRomanPS-ItalicMT"/>
                <a:ea typeface="TimesNewRomanPS-ItalicMT"/>
              </a:rPr>
              <a:t>An Analysis of Alpha-Beta Pruning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, Artificial Intelligence, vol. 6, no. 4, pp. 293–326.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259200" indent="-259200" algn="just">
              <a:spcAft>
                <a:spcPts val="1199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1" lang="en-US" sz="1900" spc="-1" strike="noStrike">
                <a:solidFill>
                  <a:srgbClr val="000000"/>
                </a:solidFill>
                <a:latin typeface="TimesNewRomanPS-BoldMT"/>
                <a:ea typeface="TimesNewRomanPS-BoldMT"/>
              </a:rPr>
              <a:t>[6] 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A. K. Mackworth (1977). </a:t>
            </a:r>
            <a:r>
              <a:rPr b="0" i="1" lang="en-US" sz="1900" spc="-1" strike="noStrike">
                <a:solidFill>
                  <a:srgbClr val="000000"/>
                </a:solidFill>
                <a:latin typeface="TimesNewRomanPS-ItalicMT"/>
                <a:ea typeface="TimesNewRomanPS-ItalicMT"/>
              </a:rPr>
              <a:t>Consistency in Networks of Relations</a:t>
            </a:r>
            <a:r>
              <a:rPr b="0" lang="en-US" sz="1900" spc="-1" strike="noStrike">
                <a:solidFill>
                  <a:srgbClr val="000000"/>
                </a:solidFill>
                <a:latin typeface="TimesNewRomanPSMT"/>
                <a:ea typeface="TimesNewRomanPSMT"/>
              </a:rPr>
              <a:t>, Artificial Intelligence, vol. 8, no. 1, pp. 99–118.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