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27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identity: SWARM-WH, CS23533 Foundations of Artificial Intelligence, Model Review. Presenters: Naveen Prabhu S K (241901069) and Varun Adhitan S V (241901121). Supervisor: Dr. Bhuvana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framing follows the project brief and the Review 1 deck. Statements are design-level, not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aligned with the implemented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Abstract summarizes the implemented system: backend/csp, backend/search, backend/games, backend/logic, backend/local_search and the web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Classical references for the techniques used in SWARM-WH. Limitations describe differences in project scope, not failures of the cited work.</a:t>
            </a:r>
          </a:p>
          <a:p>
            <a:r>
              <a:t>Verify volume and page details against the originals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 for Cooperative A*, Alpha-Beta pruning and AC-3. Limitations describe differences in project scope, not failures of the cited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Existing warehouse fleets typically use fixed routes and manual or first-come-first-served assignment. The gap is a project-level synthesis of references on slides 5 and 6; no claim that the combination is globally novel.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based on backend/main.py, backend/sim/engine.py and the AI modules (search, csp, games, logic, local_search).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 0 DFD. External entities: Operator (dispatches products, drops obstacles) and the simulated Robot fleet. Process: SWARM-WH. Data store: warehouse state with reservation table and safety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Development and runtime workflows follow the implemented pipeline: CSP allocation, A* and Cooperative A* routing, Alpha-Beta conflict resolution, safety-agent energy check, annealing-based pod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Technologies match requirements.txt and the frontend files. The UI loads Tailwind, Lucide and Chart.js from CDNs, so the browser needs internet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Modules follow the code layout: sim/warehouse.py, search/pathfinding.py, csp/allocator.py, games/traffic.py, logic/safety_kb.py, local_search/slotting.py, sim/engine.py, main.py and the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Details from backend/sim/warehouse.py, backend/search/pathfinding.py and backend/csp/allocator.py. Status reflects the passing pytest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Details from backend/games/traffic.py, backend/logic/safety_kb.py and backend/local_search/slotting.py. E_required = A* steps to the nearest free charger x drain rate +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Values from Engine().wave(8) run for 700 ticks (default seed), one sample conflict in TrafficController, a forced-drain test and pytest (12 passed). Re-run before the demo to confirm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Screenshots must be captured from the running application (python run.py, then http://localhost:8000). They are not included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 based on the implemented system and the test results on slide 16. Results come from simulation, not a physical warehouse.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 work items are proposed, not scheduled deadlines.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Classical AI references plus Python and FastAPI documentation.</a:t>
            </a:r>
          </a:p>
          <a:p>
            <a:r>
              <a:t>Verify volume and page details against the originals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Details from backend/sim/engine.py, backend/main.py and the frontend files (home.js, monitor.js, common.js). Dashboard exercised against live backend data; screenshots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>
            <a:spLocks noGrp="1"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SWARM-WH</a:t>
            </a:r>
          </a:p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Autonomous Kiva Fulfillment Coordinator</a:t>
            </a:r>
          </a:p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Using Classical AI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>
            <a:spLocks noGrp="1"/>
          </p:cNvSpPr>
          <p:nvPr/>
        </p:nvSpPr>
        <p:spPr>
          <a:xfrm>
            <a:off x="962889" y="5183902"/>
            <a:ext cx="3429000" cy="960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Supervisor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IN" sz="1900" b="1" dirty="0" err="1">
                <a:solidFill>
                  <a:srgbClr val="FF0000"/>
                </a:solidFill>
              </a:rPr>
              <a:t>Dr.</a:t>
            </a:r>
            <a:r>
              <a:rPr lang="en-IN" sz="1900" b="1" dirty="0">
                <a:solidFill>
                  <a:srgbClr val="FF0000"/>
                </a:solidFill>
              </a:rPr>
              <a:t> </a:t>
            </a:r>
            <a:r>
              <a:rPr lang="en-IN" sz="1900" b="1" dirty="0" err="1">
                <a:solidFill>
                  <a:srgbClr val="FF0000"/>
                </a:solidFill>
              </a:rPr>
              <a:t>Bhuvana</a:t>
            </a:r>
            <a:r>
              <a:rPr lang="en-IN" sz="1900" b="1" dirty="0">
                <a:solidFill>
                  <a:srgbClr val="FF0000"/>
                </a:solidFill>
              </a:rPr>
              <a:t> S</a:t>
            </a:r>
            <a:endParaRPr sz="1900" b="1" dirty="0">
              <a:solidFill>
                <a:srgbClr val="FF000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>
            <a:spLocks noGrp="1"/>
          </p:cNvSpPr>
          <p:nvPr/>
        </p:nvSpPr>
        <p:spPr>
          <a:xfrm>
            <a:off x="6734175" y="5183902"/>
            <a:ext cx="5105400" cy="960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Presented by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IN" sz="1900" b="1" dirty="0">
                <a:solidFill>
                  <a:srgbClr val="FF0000"/>
                </a:solidFill>
              </a:rPr>
              <a:t>Naveen Prabhu S K         241901069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IN" sz="1900" b="1" dirty="0">
                <a:solidFill>
                  <a:srgbClr val="FF0000"/>
                </a:solidFill>
              </a:rPr>
              <a:t>Varun </a:t>
            </a:r>
            <a:r>
              <a:rPr lang="en-IN" sz="1900" b="1" dirty="0" err="1">
                <a:solidFill>
                  <a:srgbClr val="FF0000"/>
                </a:solidFill>
              </a:rPr>
              <a:t>Adhitan</a:t>
            </a:r>
            <a:r>
              <a:rPr lang="en-IN" sz="1900" b="1" dirty="0">
                <a:solidFill>
                  <a:srgbClr val="FF0000"/>
                </a:solidFill>
              </a:rPr>
              <a:t> S V           241901121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>
            <a:spLocks noGrp="1"/>
          </p:cNvSpPr>
          <p:nvPr/>
        </p:nvSpPr>
        <p:spPr>
          <a:xfrm>
            <a:off x="457200" y="980728"/>
            <a:ext cx="11274552" cy="722457"/>
          </a:xfrm>
          <a:prstGeom prst="rect">
            <a:avLst/>
          </a:prstGeom>
        </p:spPr>
        <p:txBody>
          <a:bodyPr vert="horz" lIns="91440" tIns="45720" rIns="91440" bIns="45720" anchor="ctr">
            <a:normAutofit fontScale="92500" lnSpcReduction="200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000" b="1">
                <a:solidFill>
                  <a:srgbClr val="002060"/>
                </a:solidFill>
                <a:latin typeface="Verdana"/>
                <a:ea typeface="Verdana"/>
                <a:cs typeface="Verdana"/>
              </a:rPr>
              <a:t>Department of Computer Science and Engineering (Cyber Security)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EF87E3-AC2F-4A82-832A-2E0E1A8821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2933065" cy="980728"/>
          </a:xfrm>
          <a:prstGeom prst="rect">
            <a:avLst/>
          </a:prstGeom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0918BB2-8799-4861-9D8C-C2B23D69138B}"/>
              </a:ext>
            </a:extLst>
          </p:cNvPr>
          <p:cNvSpPr>
            <a:spLocks noGrp="1"/>
          </p:cNvSpPr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CS23533– Foundations of Artificial Intelligence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3B9BCD-A40A-4FED-A9A9-5443E4BAE353}"/>
              </a:ext>
            </a:extLst>
          </p:cNvPr>
          <p:cNvSpPr>
            <a:spLocks noGrp="1"/>
          </p:cNvSpPr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b="1">
                <a:solidFill>
                  <a:srgbClr val="002060"/>
                </a:solidFill>
                <a:latin typeface="Verdana"/>
                <a:ea typeface="Verdana"/>
                <a:cs typeface="Verdana"/>
              </a:rPr>
              <a:t>2026-2027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SWARM-WH addresses warehouse robot fleets where fixed routes and simple order assignment ignore battery, travel cost and other robots.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Robots can collide, deadlock at intersections, cut through inventory space or strand in an aisle with a flat battery.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project shows students how search, constraint satisfaction, adversarial search and logic combine in one safety-critical problem.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Explicit algorithms, a live decision feed and a queryable knowledge base make every decision easy to inspect.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Objectives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the Kiva pick, deliver and return workflow as a multi-agent planning problem.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Allocate orders with CSP (AC-3, backtracking, MRV, forward checking).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 collision-free routes with A* and Space-Time Cooperative A*, and resolve conflicts with Alpha-Beta.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Keep robots out of inventory space unless picking, and trigger charging with a first-order-logic energy rule.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Compare nodes expanded across algorithms and explain every decision on a live dashboard.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Abstract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SWARM-WH is an autonomous Kiva-style fulfillment coordinator built entirely with classical AI. A user dispatches a product from a storage pod to a packing station, and a fleet of battery-powered robots carries out the order.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Orders are assigned by constraint satisfaction (AC-3, backtracking, MRV, forward checking). Routes come from A* and Space-Time Cooperative A*, conflicts are resolved by Minimax with Alpha-Beta pruning, and simulated annealing picks the slot where each pod is returned.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first-order-logic safety agent sends a robot to charge when its battery falls to the energy needed to reach a charger, and robots enter inventory space only to pick or stow a pod. A FastAPI and WebSocket dashboard shows every decision. No machine learning is used.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</a:pPr>
            <a:br>
              <a: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Verdana"/>
                <a:ea typeface="Verdana"/>
                <a:cs typeface="Verdana"/>
              </a:rPr>
            </a:br>
            <a:endParaRPr sz="2800" b="0" i="0" u="none" strike="noStrike" kern="0" cap="none" spc="0" baseline="0">
              <a:ln>
                <a:noFill/>
              </a:ln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marL="0" indent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5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6CD6C2-0A2E-4570-ABFD-9A02D9453EC5}"/>
              </a:ext>
            </a:extLst>
          </p:cNvPr>
          <p:cNvGraphicFramePr/>
          <p:nvPr/>
        </p:nvGraphicFramePr>
        <p:xfrm>
          <a:off x="623392" y="1752600"/>
          <a:ext cx="11089196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0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Russell &amp; Norvig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(2021)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Artificial Intelligence: A Modern Approach (4th ed.)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A*, CSP (AC-3, backtracking), Minimax with Alpha-Beta, logical agents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Textbook single-agent and two-player forms. SWARM-WH adapts them to a robot fleet.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Hart, Nilsson &amp; Raphael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(1968)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 Formal Basis for the Heuristic Determination of Minimum Cost Paths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A* search with an admissible heuristic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Plans for one agent. Other robots moving at the same time are not modeled.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Wurman, D’Andrea &amp; Mountz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(2008)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Coordinating Hundreds of Cooperative, Autonomous Vehicles in Warehouses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Kiva system: coordinated task allocation and multi-robot path planning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Industrial deployment. Internal algorithms are not open for reproduction.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</a:pPr>
            <a:br>
              <a: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Verdana"/>
                <a:ea typeface="Verdana"/>
                <a:cs typeface="Verdana"/>
              </a:rPr>
            </a:br>
            <a:endParaRPr sz="2800" b="0" i="0" u="none" strike="noStrike" kern="0" cap="none" spc="0" baseline="0">
              <a:ln>
                <a:noFill/>
              </a:ln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marL="0" indent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6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61FDFD-3588-4DE4-85FD-84AE2837C517}"/>
              </a:ext>
            </a:extLst>
          </p:cNvPr>
          <p:cNvGraphicFramePr/>
          <p:nvPr/>
        </p:nvGraphicFramePr>
        <p:xfrm>
          <a:off x="983432" y="1746251"/>
          <a:ext cx="10748296" cy="4416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77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Silver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(2005)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Cooperative Pathfinding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Cooperative A* with a space-time reservation table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Result depends on planning order. Tight corridors need extra conflict handling.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  <a:endParaRPr sz="180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Knuth &amp; Moore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(1975)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An Analysis of Alpha-Beta Pruning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Minimax with Alpha-Beta pruning and move ordering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Savings depend on move ordering. SWARM-WH applies it to two-robot conflicts.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Mackworth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(1977)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Consistency in Networks of Relations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AC-3 arc consistency for constraint satisfaction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Prunes domains only. Backtracking is still needed for a full assignment.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Research Gap/Existing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7</a:t>
            </a:fld>
            <a:endParaRPr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5052318" cy="1216025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1. What existing studies do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A* gives optimal routes; Cooperative A* avoids collisions; CSP and Alpha-Beta fit assignment.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>
            <a:spLocks noGrp="1"/>
          </p:cNvSpPr>
          <p:nvPr/>
        </p:nvSpPr>
        <p:spPr>
          <a:xfrm>
            <a:off x="6096000" y="1752600"/>
            <a:ext cx="5452872" cy="1216024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2. Limitations observed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Fixed-route fleets, flat battery rules and single-technique studies leave gaps.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>
            <a:spLocks noGrp="1"/>
          </p:cNvSpPr>
          <p:nvPr/>
        </p:nvSpPr>
        <p:spPr>
          <a:xfrm>
            <a:off x="766233" y="3645024"/>
            <a:ext cx="5177367" cy="158417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3. Research gap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One open prototype should combine CSP, Cooperative A*, Alpha-Beta and logic.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>
            <a:spLocks noGrp="1"/>
          </p:cNvSpPr>
          <p:nvPr/>
        </p:nvSpPr>
        <p:spPr>
          <a:xfrm>
            <a:off x="6199632" y="3794760"/>
            <a:ext cx="5349240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4. How our project responds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SWARM-WH combines them with an inventory-zone rule and distance-based charging.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379249-BABF-431A-8FE3-C06C4D68C04F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191500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351BFC-CDF4-49A4-9B4B-C0CC9A3F1E0B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429250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F5AD54-25AD-417A-BF5D-EF64094124D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809875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Proposed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8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334106-8747-4BD5-BB61-7052C5C1A621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Proposed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96D0D6-F2CD-4E17-A1DC-97167BA0C263}"/>
              </a:ext>
            </a:extLst>
          </p:cNvPr>
          <p:cNvSpPr>
            <a:spLocks noGrp="1"/>
          </p:cNvSpPr>
          <p:nvPr/>
        </p:nvSpPr>
        <p:spPr>
          <a:xfrm>
            <a:off x="809625" y="2714625"/>
            <a:ext cx="200025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Web dashboard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Dispatch form,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live canvas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07BFE-475D-4920-BE99-76F24345070C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228600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FastAPI + engine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WebSocket, tick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loop, orders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3454F4-A713-4788-A27C-6E2FE779B724}"/>
              </a:ext>
            </a:extLst>
          </p:cNvPr>
          <p:cNvSpPr>
            <a:spLocks noGrp="1"/>
          </p:cNvSpPr>
          <p:nvPr/>
        </p:nvSpPr>
        <p:spPr>
          <a:xfrm>
            <a:off x="5762625" y="2714625"/>
            <a:ext cx="2428875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AI modules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CSP, A*, Alpha-Beta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FOL, Annealing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6174C-430D-4B20-A583-DE2C1A6231BA}"/>
              </a:ext>
            </a:extLst>
          </p:cNvPr>
          <p:cNvSpPr>
            <a:spLocks noGrp="1"/>
          </p:cNvSpPr>
          <p:nvPr/>
        </p:nvSpPr>
        <p:spPr>
          <a:xfrm>
            <a:off x="8524875" y="2714625"/>
            <a:ext cx="276225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Output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Robot moves, charts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decision feed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0E0F25-1822-4405-8D06-D09C3355C952}"/>
              </a:ext>
            </a:extLst>
          </p:cNvPr>
          <p:cNvSpPr>
            <a:spLocks noGrp="1"/>
          </p:cNvSpPr>
          <p:nvPr/>
        </p:nvSpPr>
        <p:spPr>
          <a:xfrm>
            <a:off x="809625" y="4524375"/>
            <a:ext cx="10572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Reservations, the Alpha-Beta controller and the safety knowledge base link every robot move to an explainable decision.</a:t>
            </a:r>
          </a:p>
          <a:p>
            <a: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The warehouse model holds pods, stations, chargers and obstacles. The event log feeds the monitor page.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FEFD69-EA9A-48B9-B159-85015D84A078}"/>
              </a:ext>
            </a:extLst>
          </p:cNvPr>
          <p:cNvCxnSpPr>
            <a:stCxn id="9" idx="4"/>
            <a:endCxn id="11" idx="0"/>
          </p:cNvCxnSpPr>
          <p:nvPr/>
        </p:nvCxnSpPr>
        <p:spPr>
          <a:xfrm flipH="1">
            <a:off x="6262688" y="4595813"/>
            <a:ext cx="23813" cy="500062"/>
          </a:xfrm>
          <a:prstGeom prst="straightConnector1">
            <a:avLst/>
          </a:prstGeom>
          <a:ln w="19050">
            <a:solidFill>
              <a:srgbClr val="203864"/>
            </a:solidFill>
            <a:headEnd type="triangle" w="sm" len="sm"/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FE6F52-8948-4ED0-8A42-CFE3A79D5CF9}"/>
              </a:ext>
            </a:extLst>
          </p:cNvPr>
          <p:cNvCxnSpPr>
            <a:stCxn id="10" idx="1"/>
            <a:endCxn id="9" idx="6"/>
          </p:cNvCxnSpPr>
          <p:nvPr/>
        </p:nvCxnSpPr>
        <p:spPr>
          <a:xfrm flipH="1">
            <a:off x="7667625" y="3714750"/>
            <a:ext cx="214312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04FFF1-8B9E-4123-B540-70025CC6895B}"/>
              </a:ext>
            </a:extLst>
          </p:cNvPr>
          <p:cNvCxnSpPr>
            <a:stCxn id="9" idx="2"/>
            <a:endCxn id="8" idx="3"/>
          </p:cNvCxnSpPr>
          <p:nvPr/>
        </p:nvCxnSpPr>
        <p:spPr>
          <a:xfrm flipH="1" flipV="1">
            <a:off x="2428875" y="3714750"/>
            <a:ext cx="2476500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92488F-35BF-4DB1-B5B5-69079C9634C0}"/>
              </a:ext>
            </a:extLst>
          </p:cNvPr>
          <p:cNvCxnSpPr>
            <a:stCxn id="8" idx="3"/>
            <a:endCxn id="9" idx="2"/>
          </p:cNvCxnSpPr>
          <p:nvPr/>
        </p:nvCxnSpPr>
        <p:spPr>
          <a:xfrm>
            <a:off x="2428875" y="3714750"/>
            <a:ext cx="2476500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DFD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  <a:t>9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712DD4-8DED-46C7-A358-556FF9C8F694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Level 0 context diagram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F7F381-3DC8-47E1-9FC9-4BC1F0C64986}"/>
              </a:ext>
            </a:extLst>
          </p:cNvPr>
          <p:cNvSpPr>
            <a:spLocks noGrp="1"/>
          </p:cNvSpPr>
          <p:nvPr/>
        </p:nvSpPr>
        <p:spPr>
          <a:xfrm>
            <a:off x="809625" y="3286125"/>
            <a:ext cx="1619250" cy="85725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Operator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F55522-1660-4C1D-95DB-0A999936672C}"/>
              </a:ext>
            </a:extLst>
          </p:cNvPr>
          <p:cNvSpPr>
            <a:spLocks noGrp="1"/>
          </p:cNvSpPr>
          <p:nvPr/>
        </p:nvSpPr>
        <p:spPr>
          <a:xfrm>
            <a:off x="4905375" y="2833688"/>
            <a:ext cx="2762250" cy="1762125"/>
          </a:xfrm>
          <a:prstGeom prst="ellipse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0. SWARM-WH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Planning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coordination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9CE11-FD96-4D7A-BBE4-E6EE00C1244E}"/>
              </a:ext>
            </a:extLst>
          </p:cNvPr>
          <p:cNvSpPr>
            <a:spLocks noGrp="1"/>
          </p:cNvSpPr>
          <p:nvPr/>
        </p:nvSpPr>
        <p:spPr>
          <a:xfrm>
            <a:off x="9810750" y="3286125"/>
            <a:ext cx="1714500" cy="85725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Robot fleet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B15A8-DA2C-4638-B929-3C9DB29EA3A5}"/>
              </a:ext>
            </a:extLst>
          </p:cNvPr>
          <p:cNvSpPr>
            <a:spLocks noGrp="1"/>
          </p:cNvSpPr>
          <p:nvPr/>
        </p:nvSpPr>
        <p:spPr>
          <a:xfrm>
            <a:off x="3810000" y="5095875"/>
            <a:ext cx="4905375" cy="7620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D1 Warehouse state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Pods, robots, reservations, rules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9DD5C2-D321-4EE9-A88D-D55C60A8344B}"/>
              </a:ext>
            </a:extLst>
          </p:cNvPr>
          <p:cNvSpPr>
            <a:spLocks noGrp="1"/>
          </p:cNvSpPr>
          <p:nvPr/>
        </p:nvSpPr>
        <p:spPr>
          <a:xfrm>
            <a:off x="2571750" y="2857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Orders / map events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623916-25CC-47B4-A416-D565FAE5D7AD}"/>
              </a:ext>
            </a:extLst>
          </p:cNvPr>
          <p:cNvSpPr>
            <a:spLocks noGrp="1"/>
          </p:cNvSpPr>
          <p:nvPr/>
        </p:nvSpPr>
        <p:spPr>
          <a:xfrm>
            <a:off x="2524125" y="41719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Routes / status / feed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82FDD8-B487-4062-A468-15EE1A3E2E71}"/>
              </a:ext>
            </a:extLst>
          </p:cNvPr>
          <p:cNvSpPr>
            <a:spLocks noGrp="1"/>
          </p:cNvSpPr>
          <p:nvPr/>
        </p:nvSpPr>
        <p:spPr>
          <a:xfrm>
            <a:off x="7905750" y="2857500"/>
            <a:ext cx="18573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Robot state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3F4104-F1D5-4708-BA32-9DA9CA68E643}"/>
              </a:ext>
            </a:extLst>
          </p:cNvPr>
          <p:cNvSpPr>
            <a:spLocks noGrp="1"/>
          </p:cNvSpPr>
          <p:nvPr/>
        </p:nvSpPr>
        <p:spPr>
          <a:xfrm>
            <a:off x="6429375" y="45720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World state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1C474F-BC89-44E7-8B5E-6756483E6B5C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861060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2A511E-6DD4-40E7-A70E-00BB924ED37A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592455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24317F-727E-45F4-9333-EB0E7F97D118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323850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FD6395-1C9E-4D2B-992B-A8C4BA33698F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61060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01DDE5-7577-4B3B-A95E-0E3EB2B87EE2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92455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EA9134-FE36-4D06-935D-9AF0B749EC49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23850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Methodology/Work Flow Diagram</a:t>
            </a:r>
            <a:endParaRPr sz="2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10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F510E-A89A-411A-8314-B4DEC5443E4E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Development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A10999-66A9-4B9B-BDAD-A9D32A405054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Model warehouse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define PEAS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42BCD2-E9EC-47B9-820A-9B701464AD86}"/>
              </a:ext>
            </a:extLst>
          </p:cNvPr>
          <p:cNvSpPr>
            <a:spLocks noGrp="1"/>
          </p:cNvSpPr>
          <p:nvPr/>
        </p:nvSpPr>
        <p:spPr>
          <a:xfrm>
            <a:off x="349567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Implement search,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CSP and logic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42AA26-3633-4185-BE55-711A5AF96F97}"/>
              </a:ext>
            </a:extLst>
          </p:cNvPr>
          <p:cNvSpPr>
            <a:spLocks noGrp="1"/>
          </p:cNvSpPr>
          <p:nvPr/>
        </p:nvSpPr>
        <p:spPr>
          <a:xfrm>
            <a:off x="618172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Build engine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web 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FA0061-8ABC-40BE-91A3-5D2A405F3E08}"/>
              </a:ext>
            </a:extLst>
          </p:cNvPr>
          <p:cNvSpPr>
            <a:spLocks noGrp="1"/>
          </p:cNvSpPr>
          <p:nvPr/>
        </p:nvSpPr>
        <p:spPr>
          <a:xfrm>
            <a:off x="886777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Test scenarios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benchmark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B72A60-6A7B-4B0D-B760-0D29E7712FC8}"/>
              </a:ext>
            </a:extLst>
          </p:cNvPr>
          <p:cNvSpPr>
            <a:spLocks noGrp="1"/>
          </p:cNvSpPr>
          <p:nvPr/>
        </p:nvSpPr>
        <p:spPr>
          <a:xfrm>
            <a:off x="809625" y="3714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Runtime workflow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5522D5-969F-4EFE-81B0-D62BC7FD2E09}"/>
              </a:ext>
            </a:extLst>
          </p:cNvPr>
          <p:cNvSpPr>
            <a:spLocks noGrp="1"/>
          </p:cNvSpPr>
          <p:nvPr/>
        </p:nvSpPr>
        <p:spPr>
          <a:xfrm>
            <a:off x="80962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Dispatch order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allocate robot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431173-AD88-4BFC-AC66-98070BC398EE}"/>
              </a:ext>
            </a:extLst>
          </p:cNvPr>
          <p:cNvSpPr>
            <a:spLocks noGrp="1"/>
          </p:cNvSpPr>
          <p:nvPr/>
        </p:nvSpPr>
        <p:spPr>
          <a:xfrm>
            <a:off x="349567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Plan routes with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A* + reservations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77EC7F-2C16-4659-A516-210B7AF6DB0A}"/>
              </a:ext>
            </a:extLst>
          </p:cNvPr>
          <p:cNvSpPr>
            <a:spLocks noGrp="1"/>
          </p:cNvSpPr>
          <p:nvPr/>
        </p:nvSpPr>
        <p:spPr>
          <a:xfrm>
            <a:off x="618172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Resolve conflicts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check battery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107453-12EC-4396-8E53-1BA99FDCD9FA}"/>
              </a:ext>
            </a:extLst>
          </p:cNvPr>
          <p:cNvSpPr>
            <a:spLocks noGrp="1"/>
          </p:cNvSpPr>
          <p:nvPr/>
        </p:nvSpPr>
        <p:spPr>
          <a:xfrm>
            <a:off x="886777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Return pod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explain decisions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4D4884-D8A9-4F51-B790-EE928443B58B}"/>
              </a:ext>
            </a:extLst>
          </p:cNvPr>
          <p:cNvSpPr>
            <a:spLocks noGrp="1"/>
          </p:cNvSpPr>
          <p:nvPr/>
        </p:nvSpPr>
        <p:spPr>
          <a:xfrm>
            <a:off x="809625" y="549592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The FOL safety agent pre-empts a task and sends the robot to charge when battery reaches the threshold.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Python 3.12 implements the AI algorithms (A*, CSP, Alpha-Beta, FOL, annealing) from scratch.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FastAPI, Uvicorn and WebSockets run the simulation and stream live state to the browser.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HTML5 Canvas, Tailwind CSS and Chart.js draw the live grid, telemetry and charts.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Pytest tests the algorithms and the engine; VS Code supports development.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Standard laptop: 4 GB RAM minimum, no GPU. No database or machine learning is used.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List of Modules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1 – Warehouse Model and Environment: grid, pods, stations, chargers.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2 – Search and Path Planning: A*, UCS, BFS, Cooperative A*, LRTA*.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3 – CSP Task Allocator: AC-3, backtracking, MRV and forward checking.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4 – Alpha-Beta Traffic Controller: Minimax over MOVE, WAIT, YIELD.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5 – FOL Safety Agent: forward and backward chaining, energy threshold.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6 – Slotting Optimizer: Simulated Annealing for pod return slots.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7 – Simulation Engine and API: tick loop, order lifecycle, FastAPI, WebSocket.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8 – Web Dashboard: canvas, dispatch queue, telemetry, KB query box.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Module Descriptions – 1 to 3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1 – Warehouse Model and Environment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Input: grid layout and pods. Holds 32 pods, 4 stations and 5 chargers; enforces the inventory-zone rule.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2 – Search and Path Planning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Input: start, goal, load. A* with turn and load penalties; Cooperative A* reserves (x, y, t). Output: routes.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3 – CSP Task Allocator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Input: orders and idle robots. AC-3, then backtracking with MRV and forward checking. Output: one robot per order.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modules 1 to 3 implemented and tested.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Module Descriptions – 4 to 6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4 – Alpha-Beta Traffic Controller: resolves head-on conflicts by Minimax over MOVE, WAIT and YIELD_SIDE and picks the lowest worst-case delay.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5 – FOL Safety Agent: forward chaining fires CriticalEnergyThreshold when battery ≤ E_required; backward chaining answers KB queries with proof trees.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6 – Slotting Optimizer: Simulated Annealing chooses the return slot, so frequently ordered pods rest near stations.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modules 4 to 6 implemented and tested.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Module Descriptions – 7 to 8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7 – Simulation Engine and API: tick loop and order lifecycle (assign, pick up, deliver, return), FastAPI and WebSocket server streaming live state.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8 – Web Dashboard: live canvas, dispatch queue, robot inspector, monitor page with telemetry, decision feed and KB query box.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modules 7 and 8 implemented and tested. Dashboard screenshots are to be added.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Results &amp; Discussion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Wave test: 8 orders dispatched and all 8 completed within 700 ticks, with 0 collisions and 0 inventory-zone violations.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Cooperative A* prevented 17 conflicts; average nodes per route: A* 60, BFS 138, UCS 394.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One head-on conflict: Alpha-Beta and plain Minimax chose the same moves; 211 vs 765 nodes (72% fewer).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Forced battery drain triggered 1 CriticalEnergyThreshold and 1 charger run; 12 of 12 automated tests pass.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Baselines: UCS and BFS for search, plain Minimax for pruning. Larger-fleet results are planned.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User Interface/ Screenshots</a:t>
            </a: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B9F7-E796-4F54-83AC-54CFC2AB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Home page: dispatch form, live canvas with A* paths, battery rings and hatched no-go inventory zones.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 inspector: position, battery versus charger threshold, goal, zone status and explain() text.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Monitor page: KPI ribbon, battery bars with threshold markers, AI decision feed, charts and KB query box.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Working application screenshots: [insert verified screenshots of the Home and Monitor pages].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None/>
            </a:pPr>
            <a:r>
              <a:t>Model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BDC2143B-610F-499C-A392-DFFBE135A7B2}" type="slidenum"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Conclusion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SWARM-WH applies classical AI to Kiva-style warehouse coordination without machine learning.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CSP assigns orders, A* and Cooperative A* plan routes, Alpha-Beta resolves conflicts, and a first-order-logic agent keeps robots energy-safe.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Robots stay out of inventory space unless picking, and every decision is explained on a live dashboard.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testing, order waves completed with 0 collisions and 0 inventory-zone violations. Larger-fleet benchmarks remain future work.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Benchmark A* and Cooperative A* on larger fleets and heavier order waves.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Extend the Alpha-Beta controller to three-way intersection deadlocks.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idle-time re-slotting so frequently ordered pods move closer to stations (return slots are already heat-aware).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Compare against a fixed-route, first-come-first-served baseline.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Capture screenshots, complete documentation and rehearse the final demonstration.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19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0D461-2EF8-4F3D-B3B1-812926D0D77A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Russell, S., &amp; Norvig, P. (2021). Artificial Intelligence: A Modern Approach (4th ed.). Pearson.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Hart, P. E., Nilsson, N. J., &amp; Raphael, B. (1968). A formal basis for the heuristic determination of minimum cost paths. IEEE Trans. Systems Science and Cybernetics, 4(2), 100–107.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Wurman, P. R., D’Andrea, R., &amp; Mountz, M. (2008). Coordinating hundreds of cooperative, autonomous vehicles in warehouses. AI Magazine, 29(1), 9–20.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Silver, D. (2005). Cooperative pathfinding. Proc. AIIDE, 117–122.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Knuth, D. E., &amp; Moore, R. W. (1975). An analysis of alpha-beta pruning. Artificial Intelligence, 6(4), 293–326.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Mackworth, A. K. (1977). Consistency in networks of relations. Artificial Intelligence, 8(1), 99–118.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[7] Python Software Foundation. https://docs.python.org/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[8] FastAPI Documentation. https://fastapi.tiangolo.com/</a:t>
            </a:r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>
              <a:buNone/>
            </a:pPr>
            <a:r>
              <a:rPr sz="4000" b="1">
                <a:solidFill>
                  <a:srgbClr val="FF0000"/>
                </a:solidFill>
              </a:rPr>
              <a:t>Thank You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F583B680-F650-469F-A231-392F163461F6}" type="slidenum">
              <a:rPr/>
              <a:t>20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8BF281-33C5-4BF8-8FB1-6B87590B6A44}"/>
              </a:ext>
            </a:extLst>
          </p:cNvPr>
          <p:cNvSpPr>
            <a:spLocks noGrp="1"/>
          </p:cNvSpPr>
          <p:nvPr/>
        </p:nvSpPr>
        <p:spPr>
          <a:xfrm>
            <a:off x="809625" y="48101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00" b="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900" b="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SWARM-WH</a:t>
            </a:r>
          </a:p>
          <a:p>
            <a:pPr algn="ctr">
              <a:defRPr sz="1900" b="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Autonomous Kiva fulfillment coordinator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2424</Words>
  <Application>Microsoft Office PowerPoint</Application>
  <DocSecurity>0</DocSecurity>
  <PresentationFormat>Widescreen</PresentationFormat>
  <Paragraphs>237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Abstract</vt:lpstr>
      <vt:lpstr>Literature Survey</vt:lpstr>
      <vt:lpstr>Literature Survey</vt:lpstr>
      <vt:lpstr>Research Gap/Existing System</vt:lpstr>
      <vt:lpstr>Proposed System</vt:lpstr>
      <vt:lpstr>DFD Diagram</vt:lpstr>
      <vt:lpstr>Methodology/Work Flow Diagram</vt:lpstr>
      <vt:lpstr>Tools and Technologies</vt:lpstr>
      <vt:lpstr>List of Modules</vt:lpstr>
      <vt:lpstr>Module Descriptions – 1 to 3</vt:lpstr>
      <vt:lpstr>Module Descriptions – 4 to 6</vt:lpstr>
      <vt:lpstr>Results &amp; Discussion</vt:lpstr>
      <vt:lpstr>User Interface/ Screenshots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SWARM-WH Model Review</dc:title>
  <dc:creator>Walnut Exporter</dc:creator>
  <cp:lastModifiedBy>Naveen Prabhu S K</cp:lastModifiedBy>
  <cp:revision>3</cp:revision>
  <dcterms:created xsi:type="dcterms:W3CDTF">2026-10-13T13:55:49Z</dcterms:created>
  <dcterms:modified xsi:type="dcterms:W3CDTF">2026-10-16T01:55:46Z</dcterms:modified>
</cp:coreProperties>
</file>